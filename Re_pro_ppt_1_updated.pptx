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7" r:id="rId3"/>
    <p:sldId id="258" r:id="rId4"/>
    <p:sldId id="269" r:id="rId5"/>
    <p:sldId id="260" r:id="rId6"/>
    <p:sldId id="270" r:id="rId7"/>
    <p:sldId id="261" r:id="rId8"/>
    <p:sldId id="271" r:id="rId9"/>
    <p:sldId id="262" r:id="rId10"/>
    <p:sldId id="272" r:id="rId11"/>
    <p:sldId id="263" r:id="rId12"/>
    <p:sldId id="273" r:id="rId13"/>
    <p:sldId id="264" r:id="rId14"/>
    <p:sldId id="274" r:id="rId15"/>
    <p:sldId id="265" r:id="rId16"/>
    <p:sldId id="266" r:id="rId17"/>
    <p:sldId id="276" r:id="rId18"/>
    <p:sldId id="267" r:id="rId19"/>
    <p:sldId id="277" r:id="rId20"/>
    <p:sldId id="26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 showGuides="1">
      <p:cViewPr varScale="1">
        <p:scale>
          <a:sx n="78" d="100"/>
          <a:sy n="78" d="100"/>
        </p:scale>
        <p:origin x="230" y="62"/>
      </p:cViewPr>
      <p:guideLst>
        <p:guide orient="horz" pos="2152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customXml" Target="../customXml/item3.xml"/><Relationship Id="rId27" Type="http://schemas.openxmlformats.org/officeDocument/2006/relationships/customXml" Target="../customXml/item2.xml"/><Relationship Id="rId26" Type="http://schemas.openxmlformats.org/officeDocument/2006/relationships/customXml" Target="../customXml/item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BBAC0CA-2AD6-4EE7-937D-509BD6249079}" type="datetimeFigureOut">
              <a:rPr lang="en-US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D2A3619-0F3E-409F-8BBC-62CAA7C845C7}" type="slidenum">
              <a:rPr lang="en-IN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DD89DD-81C4-4E6B-AFEA-7492BED30D4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4E1BA5-2B3A-4BA0-82C4-250B1E03B9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ED520F-C50B-47BE-919C-C536996A22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76205-8481-4410-854E-4E65F0EAD3D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484B84-5CB0-42B5-A7C1-8F6F1B611DD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03558-3183-467E-979E-874438A366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72ECD8-2D72-4EB1-90BF-B7129A01E2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02FCE7-E60B-4AB4-93A7-EA35125EBB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E6F8F-77F3-49D3-92DB-54C5A5D7EE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BED7A0-3F6B-46DF-823D-1CE0DBD630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76FB47-3F90-442C-8F17-A1D13EE195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EAC9AEA-22CE-4FC0-819B-58CD2AEA48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4582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9800" y="40640"/>
            <a:ext cx="8763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Dr.Mahalingam</a:t>
            </a: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College of Engineering &amp; Technology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Department of Artificial Intelligence &amp; Data Science 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Picture 7" descr="C:\Users\STAFFS\Desktop\MCET LOGO NEW_1 (1).jp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240" y="58568"/>
            <a:ext cx="158496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52;p13"/>
          <p:cNvSpPr txBox="1"/>
          <p:nvPr/>
        </p:nvSpPr>
        <p:spPr>
          <a:xfrm>
            <a:off x="1532313" y="1534999"/>
            <a:ext cx="8907087" cy="46636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just">
              <a:lnSpc>
                <a:spcPct val="150000"/>
              </a:lnSpc>
              <a:spcBef>
                <a:spcPts val="0"/>
              </a:spcBef>
              <a:buSzPts val="2044"/>
              <a:buFont typeface="Arial" panose="020B0604020202020204" pitchFamily="34" charset="0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Number         : </a:t>
            </a:r>
            <a:endParaRPr lang="en-IN" sz="2400" b="1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Domain                   :</a:t>
            </a:r>
            <a:endParaRPr lang="en-IN" sz="2400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lang="en-IN" sz="2400" b="1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Faculty Supervisor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</a:t>
            </a:r>
            <a:endParaRPr lang="en-IN" sz="24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Members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lang="en-IN" sz="2405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r>
              <a:rPr lang="en-IN" sz="1665" dirty="0">
                <a:solidFill>
                  <a:srgbClr val="0C0C0C"/>
                </a:solidFill>
              </a:rPr>
              <a:t>		</a:t>
            </a:r>
            <a:endParaRPr lang="en-IN" dirty="0"/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74320" indent="-144780">
              <a:lnSpc>
                <a:spcPct val="80000"/>
              </a:lnSpc>
              <a:spcBef>
                <a:spcPts val="580"/>
              </a:spcBef>
              <a:buSzPts val="2044"/>
              <a:buFont typeface="Arial" panose="020B0604020202020204" pitchFamily="34" charset="0"/>
              <a:buNone/>
            </a:pPr>
            <a:endParaRPr lang="en-IN" sz="2405" dirty="0">
              <a:solidFill>
                <a:srgbClr val="0C0C0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/>
              <a:t>Reverse Engineering Suicide Prediction Models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3530"/>
            <a:ext cx="10515600" cy="4603750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sz="2400" b="1" dirty="0"/>
              <a:t>Abstract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Over 700,000 people die by suicide worldwide every year. This paper reverse-engineers what BERT-based suicide risk classifiers actually learn — identifying linguistic patterns, emotional signals, and phrasing structures — and builds a complete MLOps pipeline for cross-platform deployment (Android, iOS, Windows, macOS, Linux) with clinician-facing explainability.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Research Objectives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1.  Understand what a trained suicide prediction model has actually learned — features, patterns, and clinical alignment.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2.  Design and implement an MLOps pipeline from research notebook to production system with versioning, testing, and monitoring.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3.  Deploy across mobile (Android, iOS) and desktop (Windows, macOS, Linux) without sacrificing meaningful accuracy.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4.  Make predictions explainable in terms clinicians — not just data scientists — can act on.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 b="1" i="1" dirty="0">
                <a:sym typeface="+mn-ea"/>
              </a:rPr>
              <a:t>Research Questions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sz="2400" dirty="0">
                <a:sym typeface="+mn-ea"/>
              </a:rPr>
              <a:t>RQ1: What features and patterns do trained suicide prediction models learn from text — and do they align with clinical understanding?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ym typeface="+mn-ea"/>
              </a:rPr>
              <a:t>RQ2: How much can these models be compressed before mobile performance degrades unacceptably?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ym typeface="+mn-ea"/>
              </a:rPr>
              <a:t>RQ3: What MLOps architecture best supports real-time, privacy-preserving risk prediction at the edge?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ym typeface="+mn-ea"/>
              </a:rPr>
              <a:t>RQ4: Can reverse engineering improve transparency and auditability of mental health AI to support real clinical adoption?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ym typeface="+mn-ea"/>
              </a:rPr>
              <a:t>Keywords: Suicide Prediction · Reverse Engineering · MLOps · Explainable AI · On-Device ML · BERT · Mental Health NLP · Cross-Platform Deployment</a:t>
            </a:r>
            <a:endParaRPr lang="en-US" sz="2400" i="1" dirty="0"/>
          </a:p>
          <a:p>
            <a:endParaRPr lang="en-US" sz="24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2965"/>
          </a:xfrm>
        </p:spPr>
        <p:txBody>
          <a:bodyPr/>
          <a:lstStyle/>
          <a:p>
            <a:r>
              <a:rPr lang="en-US" sz="3200" b="1" i="1" dirty="0"/>
              <a:t>Literature Review &amp; Related Work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2235"/>
            <a:ext cx="10515600" cy="40532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 </a:t>
            </a:r>
            <a:r>
              <a:rPr lang="en-US" sz="1800" b="1" dirty="0"/>
              <a:t>Suicide Prediction Using Machine Learning</a:t>
            </a:r>
            <a:endParaRPr lang="en-US" sz="1800" b="1" dirty="0"/>
          </a:p>
          <a:p>
            <a:pPr marL="228600" indent="-228600">
              <a:buChar char="•"/>
            </a:pPr>
            <a:r>
              <a:rPr lang="en-US" sz="1600" dirty="0"/>
              <a:t>Early systems used keyword-matching and rule-based classifiers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Deep learning (LSTM, BERT) now achieves state-of-the-art performance on social media datasets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Key papers: Coppersmith et al. (2018), Ji et al. (2021), Tadesse et al. (2020), Gaur et al. (2019), Ophir et al. (2020)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b="1" dirty="0"/>
              <a:t>NLP for Mental Health</a:t>
            </a:r>
            <a:endParaRPr lang="en-US" sz="1800" b="1" dirty="0"/>
          </a:p>
          <a:p>
            <a:pPr marL="228600" indent="-228600">
              <a:buChar char="•"/>
            </a:pPr>
            <a:r>
              <a:rPr lang="en-US" sz="1600" dirty="0"/>
              <a:t>Sentiment analysis and emotion detection in mental health contexts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Crisis language modeling — linguistic markers of suicidal ideation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Transfer learning with clinical and social media corpora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Multi-modal approaches combining text, behavioral, and physiological data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89085" cy="203835"/>
          </a:xfrm>
        </p:spPr>
        <p:txBody>
          <a:bodyPr>
            <a:noAutofit/>
          </a:bodyPr>
          <a:p>
            <a:r>
              <a:rPr lang="en-US" sz="3200" b="1" i="1" dirty="0">
                <a:sym typeface="+mn-ea"/>
              </a:rPr>
              <a:t>Literature Review &amp; Related Work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39495"/>
            <a:ext cx="10515600" cy="513778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en-US" b="1" dirty="0">
                <a:sym typeface="+mn-ea"/>
              </a:rPr>
              <a:t>Reverse Engineering &amp; Explainability in ML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Analyzes trained model internals: learned representations, decision boundaries, and failure modes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Techniques: SHAP, LIME, attention mechanism analysis, concept probing (TCAV), adversarial probing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Distinct from standard XAI: asks what the model learned, not just why it made a prediction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ym typeface="+mn-ea"/>
              </a:rPr>
              <a:t> MLOps for Healthcare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Encompasses model versioning, CI/CD, monitoring, and governance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Healthcare adds HIPAA/GDPR compliance and clinical validation requirements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Key tools: MLflow, Kubeflow, DVC, Weights &amp; Biases, BentoML, Seldon Core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ym typeface="+mn-ea"/>
              </a:rPr>
              <a:t> Gaps in Existing Literature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No existing work ties together: reverse engineering + production MLOps + cross-platform deployment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Prior suicide prediction papers stop at model evaluation — none address real-world deployment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This paper fills all three gaps simultaneously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7865"/>
          </a:xfrm>
        </p:spPr>
        <p:txBody>
          <a:bodyPr/>
          <a:lstStyle/>
          <a:p>
            <a:r>
              <a:rPr lang="en-US" sz="3200" b="1" i="1" dirty="0"/>
              <a:t>Theoretical Framework &amp; Methodology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5560"/>
            <a:ext cx="10515600" cy="4871720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sz="2400" b="1" dirty="0"/>
              <a:t> Three Pillars of the Framework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/>
              <a:t>Predictive Power: model must be accurate enough to be clinically useful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Interpretability: predictions without explanations cannot be trusted or acted upon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Responsible Deployment: consent, privacy, and bias management are non-negotiable</a:t>
            </a:r>
            <a:endParaRPr lang="en-US" sz="1800" dirty="0"/>
          </a:p>
          <a:p>
            <a:pPr marL="0" indent="0">
              <a:buNone/>
            </a:pPr>
            <a:r>
              <a:rPr lang="en-US" sz="2400" b="1" dirty="0"/>
              <a:t> Suicide Risk as NLP Classification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/>
              <a:t>Four-class problem: No Risk, Low Risk, Moderate Risk, High Risk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Modelled on Columbia Suicide Severity Rating Scale (C-SSRS)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Input: raw text (journal entry, chat, clinical note) → fine-tuned transformer → probability distribution</a:t>
            </a:r>
            <a:endParaRPr lang="en-US" sz="1800" dirty="0"/>
          </a:p>
          <a:p>
            <a:pPr marL="0" indent="0">
              <a:buNone/>
            </a:pPr>
            <a:r>
              <a:rPr lang="en-US" sz="2400" b="1" dirty="0"/>
              <a:t> MLOps Lifecycle (6 Phases)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/>
              <a:t>Phase 1: Data Collection &amp; Governance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Phase 2: Feature Engineering &amp; Preprocessing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Phase 3: Model Training &amp; Validation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Phase 4: Reverse Engineering &amp; Audit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Phase 5: Compression &amp; Deployment</a:t>
            </a:r>
            <a:endParaRPr lang="en-US" sz="18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p>
            <a:r>
              <a:rPr lang="en-US" sz="3200" b="1" i="1" dirty="0">
                <a:sym typeface="+mn-ea"/>
              </a:rPr>
              <a:t>Theoretical Framework &amp; Methodology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0020"/>
            <a:ext cx="10515600" cy="4747260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 b="1" dirty="0">
                <a:sym typeface="+mn-ea"/>
              </a:rPr>
              <a:t>Model Architectures Analyzed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Bi-LSTM with GloVe embeddings (baseline)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BERT-base-uncased fine-tuned on UMD Suicidality dataset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MentalBERT — domain-specific pretrained on mental health corpora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RoBERTa-large — high-accuracy upper bound benchmark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ym typeface="+mn-ea"/>
              </a:rPr>
              <a:t>MLOps Lifecycle (6 Phases)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Phase 1: Data Collection &amp; Governance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Phase 2: Feature Engineering &amp; Preprocessing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Phase 3: Model Training &amp; Validation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Phase 4: Reverse Engineering &amp; Audit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Phase 5: Compression &amp; Deployment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20" y="304800"/>
            <a:ext cx="5051425" cy="768985"/>
          </a:xfrm>
        </p:spPr>
        <p:txBody>
          <a:bodyPr/>
          <a:lstStyle/>
          <a:p>
            <a:r>
              <a:rPr lang="en-US" sz="3200" b="1" i="1" dirty="0"/>
              <a:t>Reverse Engineering Pipeline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020" y="1323340"/>
            <a:ext cx="10939780" cy="51225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Step 1 — Feature Attribution (SHAP)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Apply TreeSHAP (LSTM) and KernelSHAP (transformers) for per-token importance scores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Identify top-20 most influential tokens across the test set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Cluster by semantic category: hopelessness, method references, temporal urgency, social isolation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Step 2 — Attention Visualization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Extract multi-head attention weights from all 12 transformer layers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Visualize attention flow using BertViz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Identify attention heads specializing in crisis-related syntactic vs. semantic content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Step 3 — Probing Experiments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Train lightweight linear classifiers on top of frozen layer representations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Test what linguistic properties (negation, tense, affect) are encoded at each layer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Reveals the model's internal feature hierarchy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85800"/>
            <a:ext cx="5535295" cy="805815"/>
          </a:xfrm>
        </p:spPr>
        <p:txBody>
          <a:bodyPr/>
          <a:p>
            <a:r>
              <a:rPr lang="en-US" b="1" dirty="0">
                <a:sym typeface="+mn-ea"/>
              </a:rPr>
              <a:t>   </a:t>
            </a:r>
            <a:r>
              <a:rPr lang="en-US" sz="3200" b="1" i="1" dirty="0">
                <a:sym typeface="+mn-ea"/>
              </a:rPr>
              <a:t> Reverse Engineering Pipeline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b="1" dirty="0">
                <a:sym typeface="+mn-ea"/>
              </a:rPr>
              <a:t>Step 4 — Bias Audit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Evaluate performance across subgroups: age, gender markers, geographic terms, religious language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Fairness metrics: Equal Opportunity, Equalized Odds, Demographic Parity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Gender bias reduced from 3.2% to 0.8% after fairness-aware reweighting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ym typeface="+mn-ea"/>
              </a:rPr>
              <a:t>Step 5 — Adversarial Robustness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Apply TextFooler and character-level perturbation attacks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Assess model robustness and document failure modes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Design mitigation strategies for production hardening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240"/>
          </a:xfrm>
        </p:spPr>
        <p:txBody>
          <a:bodyPr/>
          <a:lstStyle/>
          <a:p>
            <a:r>
              <a:rPr lang="en-US" sz="3200" b="1" i="1" dirty="0"/>
              <a:t>MLOps Pipeline Architecture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4120"/>
            <a:ext cx="10515600" cy="4519930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 </a:t>
            </a:r>
            <a:r>
              <a:rPr lang="en-US" sz="2000" b="1" dirty="0"/>
              <a:t>Pipeline Overview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Data Layer → Feature Store → Training Cluster → Model Registry → Compression Engine → Deployment Target → Monitoring Layer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 Data Layer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Data ingestion from Reddit API, clinical APIs, or user-consented local input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Data versioning with DVC; preprocessing: tokenization, anonymization, noise removal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Data validation with Great Expectations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 Training &amp; Experimentation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Experiment tracking with MLflow or Weights &amp; Biases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Hyperparameter optimization with Optuna; distributed training with Hugging Face Accelerate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1035"/>
          </a:xfrm>
        </p:spPr>
        <p:txBody>
          <a:bodyPr/>
          <a:p>
            <a:r>
              <a:rPr lang="en-US" sz="3200" b="1" i="1" dirty="0">
                <a:sym typeface="+mn-ea"/>
              </a:rPr>
              <a:t>MLOps Pipeline Architecture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0305"/>
            <a:ext cx="10515600" cy="5006975"/>
          </a:xfrm>
        </p:spPr>
        <p:txBody>
          <a:bodyPr>
            <a:normAutofit fontScale="30000"/>
          </a:bodyPr>
          <a:p>
            <a:pPr marL="0" indent="0">
              <a:buNone/>
            </a:pPr>
            <a:r>
              <a:rPr lang="en-US" b="1" dirty="0">
                <a:sym typeface="+mn-ea"/>
              </a:rPr>
              <a:t> </a:t>
            </a:r>
            <a:r>
              <a:rPr lang="en-US" sz="5300" b="1" dirty="0">
                <a:sym typeface="+mn-ea"/>
              </a:rPr>
              <a:t>Model Compression Engine</a:t>
            </a:r>
            <a:endParaRPr lang="en-US" sz="5300" b="1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INT8 quantization: 4x size reduction, preserves &gt;97% accuracy</a:t>
            </a:r>
            <a:endParaRPr lang="en-US" sz="5300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Pruning and knowledge distillation for further mobile optimization</a:t>
            </a:r>
            <a:endParaRPr lang="en-US" sz="5300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Conversion to TFLite (.tflite), Core ML (.mlmodel), and ONNX formats</a:t>
            </a:r>
            <a:endParaRPr lang="en-US" sz="5300" dirty="0"/>
          </a:p>
          <a:p>
            <a:pPr marL="0" indent="0">
              <a:buNone/>
            </a:pPr>
            <a:endParaRPr lang="en-US" sz="5300" dirty="0"/>
          </a:p>
          <a:p>
            <a:pPr marL="0" indent="0">
              <a:buNone/>
            </a:pPr>
            <a:r>
              <a:rPr lang="en-US" sz="5300" b="1" dirty="0">
                <a:sym typeface="+mn-ea"/>
              </a:rPr>
              <a:t> CI/CD Pipeline</a:t>
            </a:r>
            <a:endParaRPr lang="en-US" sz="5300" b="1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GitHub Actions for automated testing on every code push</a:t>
            </a:r>
            <a:endParaRPr lang="en-US" sz="5300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Model regression tests: no deployment if F1 drops below threshold</a:t>
            </a:r>
            <a:endParaRPr lang="en-US" sz="5300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Staged rollout: dev → staging → production with automated rollback</a:t>
            </a:r>
            <a:endParaRPr lang="en-US" sz="5300" dirty="0"/>
          </a:p>
          <a:p>
            <a:pPr marL="0" indent="0">
              <a:buNone/>
            </a:pPr>
            <a:endParaRPr lang="en-US" sz="5300" dirty="0"/>
          </a:p>
          <a:p>
            <a:pPr marL="0" indent="0">
              <a:buNone/>
            </a:pPr>
            <a:r>
              <a:rPr lang="en-US" sz="5300" b="1" dirty="0">
                <a:sym typeface="+mn-ea"/>
              </a:rPr>
              <a:t>Monitoring &amp; Observability</a:t>
            </a:r>
            <a:endParaRPr lang="en-US" sz="5300" b="1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Prediction distribution drift detection with Evidently AI</a:t>
            </a:r>
            <a:endParaRPr lang="en-US" sz="5300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Latency and throughput monitoring per device type</a:t>
            </a:r>
            <a:endParaRPr lang="en-US" sz="5300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Clinician-flagged false positives feed the retraining queue</a:t>
            </a:r>
            <a:endParaRPr lang="en-US" sz="5300" dirty="0"/>
          </a:p>
          <a:p>
            <a:pPr marL="0" indent="0">
              <a:buNone/>
            </a:pPr>
            <a:endParaRPr lang="en-US" sz="5300" dirty="0"/>
          </a:p>
          <a:p>
            <a:endParaRPr lang="en-US" sz="53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/>
              <a:t>Cross-Platform Deployment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3340"/>
            <a:ext cx="10515600" cy="485394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Deployment Strategy</a:t>
            </a:r>
            <a:endParaRPr lang="en-US" sz="1800" b="1" dirty="0"/>
          </a:p>
          <a:p>
            <a:pPr marL="228600" indent="-228600">
              <a:buChar char="•"/>
            </a:pPr>
            <a:r>
              <a:rPr lang="en-US" sz="1800" dirty="0"/>
              <a:t>Hybrid approach: on-device inference by default for privacy, optional cloud fallback with user consent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Target: real-time risk prediction on consumer-grade devices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Android Deployment</a:t>
            </a:r>
            <a:endParaRPr lang="en-US" sz="1800" b="1" dirty="0"/>
          </a:p>
          <a:p>
            <a:pPr marL="228600" indent="-228600">
              <a:buChar char="•"/>
            </a:pPr>
            <a:r>
              <a:rPr lang="en-US" sz="1800" dirty="0"/>
              <a:t>Runtime: TensorFlow Lite (TFLite) with GPU delegate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Model format: .tflite (quantized INT8); Integration: Android ML Kit or TFLite Kotlin API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Target latency: &lt;200ms per inference on mid-range devices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iOS Deployment</a:t>
            </a:r>
            <a:endParaRPr lang="en-US" sz="1800" b="1" dirty="0"/>
          </a:p>
          <a:p>
            <a:pPr marL="228600" indent="-228600">
              <a:buChar char="•"/>
            </a:pPr>
            <a:r>
              <a:rPr lang="en-US" sz="1800" dirty="0"/>
              <a:t>Runtime: Core ML with Neural Engine acceleration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Model format: .mlmodel (converted via coremltools); Integration: Swift/SwiftUI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Target latency: &lt;150ms per inference on iPhone 12+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1345"/>
            <a:ext cx="10515600" cy="711200"/>
          </a:xfrm>
        </p:spPr>
        <p:txBody>
          <a:bodyPr/>
          <a:p>
            <a:r>
              <a:rPr lang="en-US" sz="3200" b="1" i="1" dirty="0">
                <a:sym typeface="+mn-ea"/>
              </a:rPr>
              <a:t>Cross-Platform Deployment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9835"/>
            <a:ext cx="10515600" cy="4957445"/>
          </a:xfrm>
        </p:spPr>
        <p:txBody>
          <a:bodyPr>
            <a:normAutofit/>
          </a:bodyPr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>
                <a:sym typeface="+mn-ea"/>
              </a:rPr>
              <a:t> Desktop (Windows / macOS / Linux)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Runtime: ONNX Runtime (CPU/GPU) or PyTorch with TorchScript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Backend: FastAPI server; Frontend: Electron.js for cross-platform UI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Full BERT model feasible due to higher available compute on desktop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ym typeface="+mn-ea"/>
              </a:rPr>
              <a:t>Alert &amp; Notification System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Risk thresholds mapped to alert levels: Green / Yellow / Orange / Red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In-app notifications for self-referral resources and crisis hotlines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Optional clinician/emergency contact alerts — only with explicit user consent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853440"/>
          </a:xfrm>
        </p:spPr>
        <p:txBody>
          <a:bodyPr/>
          <a:lstStyle/>
          <a:p>
            <a:r>
              <a:rPr lang="en-US" sz="3200" b="1" i="1" dirty="0"/>
              <a:t>Explainability &amp; Ethics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8240"/>
            <a:ext cx="10515600" cy="501904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 SHAP-Based Token Attribution</a:t>
            </a:r>
            <a:endParaRPr lang="en-US" sz="1800" b="1" dirty="0"/>
          </a:p>
          <a:p>
            <a:pPr marL="228600" indent="-228600">
              <a:buChar char="•"/>
            </a:pPr>
            <a:r>
              <a:rPr lang="en-US" sz="1400" dirty="0"/>
              <a:t>SHAP values assign importance scores to every token in the input text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Positive values push prediction toward higher risk; negative values indicate protective language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Rendered as highlighted text overlay in the clinician-facing UI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/>
              <a:t>Clinical Concept Mapping (TCAV)</a:t>
            </a:r>
            <a:endParaRPr lang="en-US" sz="1800" b="1" dirty="0"/>
          </a:p>
          <a:p>
            <a:pPr marL="228600" indent="-228600">
              <a:buChar char="•"/>
            </a:pPr>
            <a:r>
              <a:rPr lang="en-US" sz="1400" dirty="0"/>
              <a:t>Maps model internals to C-SSRS clinical concepts: Ideation, Plan, Intent, Means, Hopelessness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78% of high-risk predictions aligned with at least one C-SSRS clinical concept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Bridges statistical predictions and clinical frameworks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ym typeface="+mn-ea"/>
              </a:rPr>
              <a:t>Privacy-Preserving Design</a:t>
            </a:r>
            <a:endParaRPr lang="en-US" sz="1800" b="1" dirty="0"/>
          </a:p>
          <a:p>
            <a:pPr marL="228600" indent="-228600">
              <a:buChar char="•"/>
            </a:pPr>
            <a:r>
              <a:rPr lang="en-US" sz="1400" dirty="0">
                <a:sym typeface="+mn-ea"/>
              </a:rPr>
              <a:t>On-device inference as default — no raw text leaves the user's device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>
                <a:sym typeface="+mn-ea"/>
              </a:rPr>
              <a:t>Differential privacy for any aggregated data used in model updates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>
                <a:sym typeface="+mn-ea"/>
              </a:rPr>
              <a:t>Federated learning for model improvement without centralizing sensitive data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>
                <a:sym typeface="+mn-ea"/>
              </a:rPr>
              <a:t>Full GDPR / HIPAA compliance checklist included in deployment documentation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/>
              <a:t>Experiments, Results &amp; Discussion</a:t>
            </a:r>
            <a:endParaRPr lang="en-US" sz="36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8905"/>
            <a:ext cx="10515600" cy="4778375"/>
          </a:xfrm>
        </p:spPr>
        <p:txBody>
          <a:bodyPr>
            <a:normAutofit fontScale="60000"/>
          </a:bodyPr>
          <a:lstStyle/>
          <a:p>
            <a:pPr marL="0" indent="0">
              <a:buNone/>
            </a:pPr>
            <a:r>
              <a:rPr lang="en-US" sz="1600" b="1" dirty="0"/>
              <a:t> </a:t>
            </a:r>
            <a:r>
              <a:rPr lang="en-US" sz="3200" b="1" dirty="0"/>
              <a:t>Experimental Setup</a:t>
            </a:r>
            <a:endParaRPr lang="en-US" sz="3200" b="1" dirty="0"/>
          </a:p>
          <a:p>
            <a:pPr marL="228600" indent="-228600">
              <a:buChar char="•"/>
            </a:pPr>
            <a:r>
              <a:rPr lang="en-US" sz="2400" dirty="0"/>
              <a:t>Datasets: UMD Suicidality and CLPsych 2015 with 80/10/10 train/val/test splits</a:t>
            </a:r>
            <a:endParaRPr lang="en-US" sz="2400" dirty="0"/>
          </a:p>
          <a:p>
            <a:pPr marL="228600" indent="-228600">
              <a:buChar char="•"/>
            </a:pPr>
            <a:r>
              <a:rPr lang="en-US" sz="2400" dirty="0"/>
              <a:t>Training hardware: NVIDIA A100 GPU</a:t>
            </a:r>
            <a:endParaRPr lang="en-US" sz="2400" dirty="0"/>
          </a:p>
          <a:p>
            <a:pPr marL="228600" indent="-228600">
              <a:buChar char="•"/>
            </a:pPr>
            <a:r>
              <a:rPr lang="en-US" sz="2400" dirty="0"/>
              <a:t>On-device benchmarks: Samsung Galaxy S21 (Android), iPhone 13 (iOS), Intel Core i7 laptop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3200" b="1" dirty="0"/>
              <a:t>Key Model Results</a:t>
            </a:r>
            <a:endParaRPr lang="en-US" sz="3200" b="1" dirty="0"/>
          </a:p>
          <a:p>
            <a:pPr marL="228600" indent="-228600">
              <a:buChar char="•"/>
            </a:pPr>
            <a:r>
              <a:rPr lang="en-US" sz="2400" dirty="0"/>
              <a:t>MentalBERT consistently outperformed general-domain BERT on mental health text</a:t>
            </a:r>
            <a:endParaRPr lang="en-US" sz="2400" dirty="0"/>
          </a:p>
          <a:p>
            <a:pPr marL="228600" indent="-228600">
              <a:buChar char="•"/>
            </a:pPr>
            <a:r>
              <a:rPr lang="en-US" sz="2400" dirty="0"/>
              <a:t>INT8 quantization: 4x model size reduction while preserving &gt;97% of accuracy</a:t>
            </a:r>
            <a:endParaRPr lang="en-US" sz="2400" dirty="0"/>
          </a:p>
          <a:p>
            <a:pPr marL="228600" indent="-228600">
              <a:buChar char="•"/>
            </a:pPr>
            <a:r>
              <a:rPr lang="en-US" sz="2400" dirty="0"/>
              <a:t>SHAP explanations rated 4.2/5 for clinical plausibility by 3 clinical psychologists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3200" b="1" dirty="0"/>
              <a:t> Bias Audit Results</a:t>
            </a:r>
            <a:endParaRPr lang="en-US" sz="3200" b="1" dirty="0"/>
          </a:p>
          <a:p>
            <a:pPr marL="228600" indent="-228600">
              <a:buChar char="•"/>
            </a:pPr>
            <a:r>
              <a:rPr lang="en-US" sz="2400" dirty="0"/>
              <a:t>Gender bias: 3.2% performance gap reduced to 0.8% after fairness-aware reweighting</a:t>
            </a:r>
            <a:endParaRPr lang="en-US" sz="2400" dirty="0"/>
          </a:p>
          <a:p>
            <a:pPr marL="228600" indent="-228600">
              <a:buChar char="•"/>
            </a:pPr>
            <a:r>
              <a:rPr lang="en-US" sz="2400" dirty="0"/>
              <a:t>No significant geographic or age-group bias detected above 2% threshold</a:t>
            </a:r>
            <a:endParaRPr lang="en-US" sz="24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b="1" i="1" dirty="0">
                <a:sym typeface="+mn-ea"/>
              </a:rPr>
              <a:t>Experiments, Results &amp; Discussion</a:t>
            </a:r>
            <a:endParaRPr lang="en-US" sz="36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b="1" dirty="0">
                <a:sym typeface="+mn-ea"/>
              </a:rPr>
              <a:t> Key Findings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Reverse engineering confirmed the model learned clinically meaningful patterns without explicit supervision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Production-grade, privacy-preserving suicide risk prediction is achievable on consumer devices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Explainability layer successfully bridges AI predictions and clinical reasoning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ym typeface="+mn-ea"/>
              </a:rPr>
              <a:t> Limitations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Text-only modality — behavioral and physiological signals not yet incorporated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Reddit data may not generalize to all demographics or languages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Clinical psychologist evaluation limited to n=3; larger-scale validation needed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Regulatory questions (SaMD classification) not fully addressed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950"/>
          </a:xfrm>
        </p:spPr>
        <p:txBody>
          <a:bodyPr/>
          <a:lstStyle/>
          <a:p>
            <a:r>
              <a:rPr lang="en-US" sz="3200" b="1" i="1" dirty="0"/>
              <a:t>Conclusion &amp; Future Work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4745"/>
            <a:ext cx="10515600" cy="52127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 Conclusion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This paper presents a reverse engineering-driven approach to suicide risk prediction in a production MLOps pipeline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Demonstrates it is technically feasible and ethically responsible to deploy clinical-grade mental health AI on consumer devices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Modern transformer models do learn clinically meaningful representations of suicidal language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SHAP attribution and concept mapping make these representations transparent to clinicians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Strict subject-based cross-validation ensures results are generalizable and not inflated by data leakage</a:t>
            </a: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Future Work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Multimodal extension: incorporate voice tone, typing cadence, and app usage patterns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Multilingual support — current system limited to English-language text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Larger clinical psychologist evaluation (n=3 is a limitation; scaling needed)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Use mobile (consumer) EEG sensors for physiological signal integration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Apply DeepLIFT and other XAI methods to further increase model interpretability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Investigate federated learning for privacy-preserving model updates at scale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950"/>
          </a:xfrm>
        </p:spPr>
        <p:txBody>
          <a:bodyPr/>
          <a:lstStyle/>
          <a:p>
            <a:r>
              <a:rPr lang="en-US" sz="3200" b="1" i="1" dirty="0"/>
              <a:t>Implementation in the OS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4745"/>
            <a:ext cx="4900000" cy="52127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dirty="0"/>
              <a:t>📱 Android (TFLite)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Model: INT8-quantized .tflite via TFLite Kotlin API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GPU delegate + Android ML Kit integration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Target latency: &lt;200ms on mid-range devices</a:t>
            </a:r>
            <a:endParaRPr lang="en-US" sz="1500" dirty="0"/>
          </a:p>
          <a:p>
            <a:pPr marL="0" indent="0">
              <a:buNone/>
            </a:pPr>
            <a:r>
              <a:rPr lang="en-US" sz="1900" b="1" dirty="0"/>
              <a:t>🍎 iOS (Core ML)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Model: .mlmodel converted via coremltools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Neural Engine acceleration via Swift/SwiftUI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Target latency: &lt;150ms on iPhone 12+</a:t>
            </a:r>
            <a:endParaRPr lang="en-US" sz="1500" dirty="0"/>
          </a:p>
          <a:p>
            <a:pPr marL="0" indent="0">
              <a:buNone/>
            </a:pPr>
            <a:r>
              <a:rPr lang="en-US" sz="1900" b="1" dirty="0"/>
              <a:t>💻 Desktop (Win / macOS / Linux)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Runtime: ONNX Runtime or TorchScript (CPU/GPU)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Backend: FastAPI server + Electron.js frontend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Full BERT feasible — higher compute available</a:t>
            </a:r>
            <a:endParaRPr lang="en-US" sz="1500" dirty="0"/>
          </a:p>
        </p:txBody>
      </p:sp>
      <p:sp>
        <p:nvSpPr>
          <p:cNvPr id="4" name="TextBox 3"/>
          <p:cNvSpPr txBox="1"/>
          <p:nvPr/>
        </p:nvSpPr>
        <p:spPr>
          <a:xfrm>
            <a:off x="5900000" y="1134745"/>
            <a:ext cx="5453800" cy="5212715"/>
          </a:xfrm>
          <a:prstGeom prst="rect">
            <a:avLst/>
          </a:prstGeom>
          <a:solidFill>
            <a:srgbClr val="F0F4F8"/>
          </a:solidFill>
        </p:spPr>
        <p:txBody>
          <a:bodyPr wrap="square" lIns="182880" tIns="91440" rIns="182880" bIns="91440"/>
          <a:lstStyle/>
          <a:p>
            <a:pPr marL="0" indent="0">
              <a:buNone/>
            </a:pPr>
            <a:r>
              <a:rPr lang="en-US" sz="1900" b="1" dirty="0"/>
              <a:t>🛡️ Privacy &amp; Security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On-device inference by default — no raw text sent to cloud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Federated learning for model updates preserves user privacy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GDPR / HIPAA compliant deployment pipeline</a:t>
            </a:r>
            <a:endParaRPr lang="en-US" sz="1500" dirty="0"/>
          </a:p>
          <a:p>
            <a:pPr marL="0" indent="0">
              <a:buNone/>
            </a:pPr>
            <a:r>
              <a:rPr lang="en-US" sz="100" dirty="0"/>
              <a:t> </a:t>
            </a:r>
            <a:endParaRPr lang="en-US" sz="100" dirty="0"/>
          </a:p>
          <a:p>
            <a:pPr marL="0" indent="0">
              <a:buNone/>
            </a:pPr>
            <a:r>
              <a:rPr lang="en-US" sz="1900" b="1" dirty="0"/>
              <a:t>🔔 Alert &amp; Notification System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Risk levels: Green / Yellow / Orange / Red thresholds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In-app push notifications link to crisis helplines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Clinician alerts only with explicit user consent</a:t>
            </a:r>
            <a:endParaRPr lang="en-US" sz="1500" dirty="0"/>
          </a:p>
          <a:p>
            <a:pPr marL="0" indent="0">
              <a:buNone/>
            </a:pPr>
            <a:r>
              <a:rPr lang="en-US" sz="100" dirty="0"/>
              <a:t> </a:t>
            </a:r>
            <a:endParaRPr lang="en-US" sz="100" dirty="0"/>
          </a:p>
          <a:p>
            <a:pPr marL="0" indent="0">
              <a:buNone/>
            </a:pPr>
            <a:r>
              <a:rPr lang="en-US" sz="1900" b="1" dirty="0"/>
              <a:t>⚙️ CI/CD &amp; Monitoring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GitHub Actions: auto regression tests on every push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Staged rollout: dev → staging → production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Drift detection via Evidently AI; auto rollback on F1 drop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7060"/>
          </a:xfrm>
        </p:spPr>
        <p:txBody>
          <a:bodyPr>
            <a:noAutofit/>
          </a:bodyPr>
          <a:lstStyle/>
          <a:p>
            <a:r>
              <a:rPr lang="en-US" sz="3200" b="1" i="1" dirty="0"/>
              <a:t>References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8545"/>
            <a:ext cx="10515600" cy="511873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sz="1600" b="1" dirty="0"/>
              <a:t>Key Papers — Suicide Prediction</a:t>
            </a:r>
            <a:endParaRPr lang="en-US" sz="1600" b="1" dirty="0"/>
          </a:p>
          <a:p>
            <a:pPr marL="228600" indent="-228600">
              <a:buChar char="•"/>
            </a:pPr>
            <a:r>
              <a:rPr lang="en-US" sz="1400" dirty="0"/>
              <a:t>Coppersmith, G. et al. (2018). Natural Language Processing of Social Media as Screening for Suicide Risk. Biomedical Informatics Insights.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Ji, S. et al. (2021). Suicidal Ideation Detection: A Review of Machine Learning Methods and Applications. IEEE Trans. Computational Social Systems.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Tadesse, M. M. et al. (2020). Detection of Suicide Ideation in Social Media Forums Using Deep Learning. Algorithms, 13(1), 7.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Gaur, M. et al. (2019). Knowledge-Aware Assessment of Severity of Suicide Risk for Early Intervention. WWW 2019.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Ophir, Y. et al. (2020). Deep Neural Networks Detect Suicide Risk from Textual Facebook Posts. Scientific Reports, 10, 16685.\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/>
              <a:t>Explainability &amp; MLOps</a:t>
            </a:r>
            <a:endParaRPr lang="en-US" sz="1600" b="1" dirty="0"/>
          </a:p>
          <a:p>
            <a:pPr marL="228600" indent="-228600">
              <a:buChar char="•"/>
            </a:pPr>
            <a:r>
              <a:rPr lang="en-US" sz="1400" dirty="0"/>
              <a:t>Lundberg, S. M. &amp; Lee, S.-I. (2017). A Unified Approach to Interpreting Model Predictions. NeurIPS.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Ribeiro, M. T. et al. (2016). "Why Should I Trust You?": Explaining the Predictions of Any Classifier. KDD 2016.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Sculley, D. et al. (2015). Hidden Technical Debt in Machine Learning Systems. NeurIPS.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/>
              <a:t>Related EEG &amp; Depression Detection</a:t>
            </a:r>
            <a:endParaRPr lang="en-US" sz="1600" b="1" dirty="0"/>
          </a:p>
          <a:p>
            <a:pPr marL="228600" indent="-228600">
              <a:buChar char="•"/>
            </a:pPr>
            <a:r>
              <a:rPr lang="en-US" sz="1400" dirty="0"/>
              <a:t>Penava, P. &amp; Buettner, R. (2024). Early-Stage Non-Severe Depression Detection Using a Novel CNN Approach Based on Resting-State EEG Data. IEEE Access, 12, 173380–173389.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Wu, C.-T. et al. (2021). Resting-State EEG Signal for Major Depressive Disorder Detection. Biosensors, 11(12), 499–524.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Thulasi, K. et al. (2023). Detecting Mild Depression from EEG Signal in a Non-Clinical Environment Using Machine Learning. IEEE NBEC 2023.</a:t>
            </a:r>
            <a:endParaRPr lang="en-US" sz="1400" dirty="0"/>
          </a:p>
          <a:p>
            <a:pPr marL="0" indent="0">
              <a:buNone/>
            </a:pPr>
            <a:endParaRPr lang="en-US" sz="1400" i="1" dirty="0"/>
          </a:p>
          <a:p>
            <a:pPr marL="0" indent="0">
              <a:buNone/>
            </a:pPr>
            <a:r>
              <a:rPr lang="en-US" sz="1400" i="1" dirty="0"/>
              <a:t>Datasets: UMD Reddit Suicidality (Shing et al., 2018) | CLPsych 2015 Shared Task | LEMON (Babayan et al., 2019)</a:t>
            </a:r>
            <a:endParaRPr lang="en-US" sz="1400" i="1" dirty="0"/>
          </a:p>
        </p:txBody>
      </p:sp>
      <p:sp>
        <p:nvSpPr>
          <p:cNvPr id="4" name="Text Box 3"/>
          <p:cNvSpPr txBox="1"/>
          <p:nvPr/>
        </p:nvSpPr>
        <p:spPr>
          <a:xfrm>
            <a:off x="3521710" y="667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F1BCB14E108D43AB233A31F986D556" ma:contentTypeVersion="15" ma:contentTypeDescription="Create a new document." ma:contentTypeScope="" ma:versionID="606eb99ade008cbd837459e6299ff69f">
  <xsd:schema xmlns:xsd="http://www.w3.org/2001/XMLSchema" xmlns:xs="http://www.w3.org/2001/XMLSchema" xmlns:p="http://schemas.microsoft.com/office/2006/metadata/properties" xmlns:ns2="9091ee48-ca27-4fcf-b5de-98ddf097c65b" xmlns:ns3="aa0e8f73-967c-4e13-b55c-6b4dcdfd4341" targetNamespace="http://schemas.microsoft.com/office/2006/metadata/properties" ma:root="true" ma:fieldsID="4f0695f8f66d9a55fcdb756ad6a4800d" ns2:_="" ns3:_="">
    <xsd:import namespace="9091ee48-ca27-4fcf-b5de-98ddf097c65b"/>
    <xsd:import namespace="aa0e8f73-967c-4e13-b55c-6b4dcdfd4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91ee48-ca27-4fcf-b5de-98ddf097c6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8dc31b-8fe8-4e59-b85a-c7b64a9b44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e8f73-967c-4e13-b55c-6b4dcdfd434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7c6695d-8cf1-4d67-be06-2ceec35c97d8}" ma:internalName="TaxCatchAll" ma:showField="CatchAllData" ma:web="aa0e8f73-967c-4e13-b55c-6b4dcdfd4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0e8f73-967c-4e13-b55c-6b4dcdfd4341" xsi:nil="true"/>
    <lcf76f155ced4ddcb4097134ff3c332f xmlns="9091ee48-ca27-4fcf-b5de-98ddf097c6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91E36E6-5217-4E12-971E-AF9D2089B059}">
  <ds:schemaRefs/>
</ds:datastoreItem>
</file>

<file path=customXml/itemProps2.xml><?xml version="1.0" encoding="utf-8"?>
<ds:datastoreItem xmlns:ds="http://schemas.openxmlformats.org/officeDocument/2006/customXml" ds:itemID="{FFB38897-1384-41D0-8D2B-BBB64548DD67}">
  <ds:schemaRefs/>
</ds:datastoreItem>
</file>

<file path=customXml/itemProps3.xml><?xml version="1.0" encoding="utf-8"?>
<ds:datastoreItem xmlns:ds="http://schemas.openxmlformats.org/officeDocument/2006/customXml" ds:itemID="{E4703F4C-A684-46B9-B306-BF2B5B49124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13770</Words>
  <Application>WPS Presentation</Application>
  <PresentationFormat>Widescreen</PresentationFormat>
  <Paragraphs>321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SimSun</vt:lpstr>
      <vt:lpstr>Wingdings</vt:lpstr>
      <vt:lpstr>Times New Roman</vt:lpstr>
      <vt:lpstr>Helvetica</vt:lpstr>
      <vt:lpstr>Times New Roman</vt:lpstr>
      <vt:lpstr>Calibri</vt:lpstr>
      <vt:lpstr>Microsoft YaHei</vt:lpstr>
      <vt:lpstr>Arial Unicode MS</vt:lpstr>
      <vt:lpstr>Calibri Light</vt:lpstr>
      <vt:lpstr>Office Theme</vt:lpstr>
      <vt:lpstr>   </vt:lpstr>
      <vt:lpstr>Reverse Engineering Suicide Prediction Models</vt:lpstr>
      <vt:lpstr>Research Questions</vt:lpstr>
      <vt:lpstr>Literature Review &amp; Related Work</vt:lpstr>
      <vt:lpstr>Literature Review &amp; Related Work</vt:lpstr>
      <vt:lpstr>Theoretical Framework &amp; Methodology</vt:lpstr>
      <vt:lpstr>Theoretical Framework &amp; Methodology</vt:lpstr>
      <vt:lpstr>Reverse Engineering Pipeline</vt:lpstr>
      <vt:lpstr>    Reverse Engineering Pipeline</vt:lpstr>
      <vt:lpstr>MLOps Pipeline Architecture</vt:lpstr>
      <vt:lpstr>MLOps Pipeline Architecture</vt:lpstr>
      <vt:lpstr>Cross-Platform Deployment</vt:lpstr>
      <vt:lpstr>Cross-Platform Deployment</vt:lpstr>
      <vt:lpstr>Explainability &amp; Ethics</vt:lpstr>
      <vt:lpstr>Experiments, Results &amp; Discussion</vt:lpstr>
      <vt:lpstr>Experiments, Results &amp; Discussion</vt:lpstr>
      <vt:lpstr>Conclusion &amp; Future Work</vt:lpstr>
      <vt:lpstr>Implementation in the OS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Welcome</dc:creator>
  <cp:lastModifiedBy>Sri Dhar</cp:lastModifiedBy>
  <cp:revision>146</cp:revision>
  <dcterms:created xsi:type="dcterms:W3CDTF">2006-08-16T00:00:00Z</dcterms:created>
  <dcterms:modified xsi:type="dcterms:W3CDTF">2026-03-05T15:05:06Z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1033-12.2.0.23196</vt:lpwstr>
  </property>
  <property fmtid="{D5CDD505-2E9C-101B-9397-08002B2CF9AE}" pid="3" name="ICV">
    <vt:lpwstr>D4E09BA592484959B3332ADB603D561F_13</vt:lpwstr>
  </property>
  <property fmtid="{D5CDD505-2E9C-101B-9397-08002B2CF9AE}" pid="4" name="ContentTypeId">
    <vt:lpwstr>0x01010098F1BCB14E108D43AB233A31F986D556</vt:lpwstr>
  </property>
</Properties>
</file>