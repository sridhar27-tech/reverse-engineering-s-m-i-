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14400"/>
            <a:ext cx="2560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14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A3B"/>
                </a:solidFill>
              </a:rPr>
              <a:t>WEARABLE BIOSENSORS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685800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Continuous Health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Monitoring Patches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01625" y="2631440"/>
            <a:ext cx="6400800" cy="6788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0C8D0"/>
                </a:solidFill>
              </a:rPr>
              <a:t>Real-Time Biosensing + Machine Learning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0C8D0"/>
                </a:solidFill>
              </a:rPr>
              <a:t>for Proactive Healthcare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74055" y="3089910"/>
            <a:ext cx="3086100" cy="12998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2">
                    <a:alpha val="95000"/>
                  </a:schemeClr>
                </a:solidFill>
              </a:rPr>
              <a:t>TEAM NAME : CLEVER MIND</a:t>
            </a:r>
            <a:endParaRPr lang="en-US" sz="1600" dirty="0">
              <a:solidFill>
                <a:schemeClr val="accent2">
                  <a:alpha val="9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accent2">
                    <a:alpha val="95000"/>
                  </a:schemeClr>
                </a:solidFill>
              </a:rPr>
              <a:t>TEAM MEMBERS : Saranya.P</a:t>
            </a:r>
            <a:endParaRPr lang="en-US" sz="1600" dirty="0">
              <a:solidFill>
                <a:schemeClr val="accent2">
                  <a:alpha val="9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accent2">
                    <a:alpha val="95000"/>
                  </a:schemeClr>
                </a:solidFill>
              </a:rPr>
              <a:t>                                 Thilagavathi.V</a:t>
            </a:r>
            <a:endParaRPr lang="en-US" sz="1600" dirty="0">
              <a:solidFill>
                <a:schemeClr val="accent2">
                  <a:alpha val="9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accent2">
                    <a:alpha val="95000"/>
                  </a:schemeClr>
                </a:solidFill>
              </a:rPr>
              <a:t>                                 Yuvashree.B</a:t>
            </a:r>
            <a:endParaRPr lang="en-US" sz="1600" dirty="0">
              <a:solidFill>
                <a:schemeClr val="accent2">
                  <a:alpha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42A3B"/>
          </a:solidFill>
          <a:ln w="12700">
            <a:solidFill>
              <a:srgbClr val="042A3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   </a:t>
            </a:r>
            <a:endParaRPr lang="en-US" sz="2800" b="1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A0C8D0"/>
                </a:solidFill>
                <a:sym typeface="+mn-ea"/>
              </a:rPr>
              <a:t>Why current healthcare monitoring falls short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65760" y="12344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65760" y="1234440"/>
            <a:ext cx="2606040" cy="7315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502920" y="1417320"/>
            <a:ext cx="914400" cy="256032"/>
          </a:xfrm>
          <a:prstGeom prst="rect">
            <a:avLst/>
          </a:prstGeom>
          <a:solidFill>
            <a:srgbClr val="F4845F">
              <a:alpha val="20000"/>
            </a:srgbClr>
          </a:solidFill>
          <a:ln w="12700">
            <a:solidFill>
              <a:srgbClr val="F4845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502920" y="14173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845F"/>
                </a:solidFill>
              </a:rPr>
              <a:t>REACTIVE</a:t>
            </a:r>
            <a:endParaRPr lang="en-US" sz="75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502920" y="178308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2A3B"/>
                </a:solidFill>
              </a:rPr>
              <a:t>Too Late</a:t>
            </a: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502920" y="2240280"/>
            <a:ext cx="2331720" cy="135826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6B7A"/>
                </a:solidFill>
              </a:rPr>
              <a:t>Lab tests detect problems AFTER they occur. Patients only check health when symptomatic — missing early-stage intervention windows.</a:t>
            </a:r>
            <a:endParaRPr lang="en-US" sz="12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200400" y="12344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3200400" y="1234440"/>
            <a:ext cx="26060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3337560" y="1417320"/>
            <a:ext cx="914400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337560" y="14173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8090"/>
                </a:solidFill>
              </a:rPr>
              <a:t>INVASIVE</a:t>
            </a:r>
            <a:endParaRPr lang="en-US" sz="75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3337560" y="178308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2A3B"/>
                </a:solidFill>
              </a:rPr>
              <a:t>Painful &amp; Inconvenient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3337560" y="2240280"/>
            <a:ext cx="2331720" cy="1520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6B7A"/>
                </a:solidFill>
              </a:rPr>
              <a:t>Blood draws require clinic visits, cause discomfort, and provide only a single snapshot in time — not continuous data.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035040" y="123444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6035040" y="1234440"/>
            <a:ext cx="260604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6172200" y="1417320"/>
            <a:ext cx="914400" cy="256032"/>
          </a:xfrm>
          <a:prstGeom prst="rect">
            <a:avLst/>
          </a:prstGeom>
          <a:solidFill>
            <a:srgbClr val="F9C74F">
              <a:alpha val="20000"/>
            </a:srgbClr>
          </a:solidFill>
          <a:ln w="12700">
            <a:solidFill>
              <a:srgbClr val="F9C74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6172200" y="141732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42A3B"/>
                </a:solidFill>
              </a:rPr>
              <a:t>INCOMPLETE</a:t>
            </a:r>
            <a:endParaRPr lang="en-US" sz="75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6172200" y="1783080"/>
            <a:ext cx="2331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42A3B"/>
                </a:solidFill>
              </a:rPr>
              <a:t>Data Gaps</a:t>
            </a:r>
            <a:endParaRPr lang="en-US" sz="1600" dirty="0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6172200" y="2240280"/>
            <a:ext cx="2331720" cy="15208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6B7A"/>
                </a:solidFill>
              </a:rPr>
              <a:t>Smartwatches track steps but not biochemistry. No wearable currently monitors stress hormones, hydration, or metabolite levels accurately.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42A3B"/>
          </a:solidFill>
          <a:ln w="12700">
            <a:solidFill>
              <a:srgbClr val="04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32918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ARE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HEALTH PATCHES?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737360"/>
            <a:ext cx="3291840" cy="833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C8D0"/>
                </a:solidFill>
              </a:rPr>
              <a:t>Thin, flexible, skin-adherent devices with embedded biosensors that collect physiological data 24/7 — without drawing blood or requiring user interaction.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30175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9008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Work at molecular/chemical level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456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290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Non-invasive or minimally invasive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8953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67912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Stream real-time data continuously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33425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06824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Alert before symptoms appear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4046220" y="411480"/>
            <a:ext cx="2194560" cy="1920240"/>
          </a:xfrm>
          <a:prstGeom prst="rect">
            <a:avLst/>
          </a:prstGeom>
          <a:solidFill>
            <a:srgbClr val="F0F9FB"/>
          </a:solidFill>
          <a:ln w="12700">
            <a:solidFill>
              <a:srgbClr val="D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2"/>
            </p:custDataLst>
          </p:nvPr>
        </p:nvSpPr>
        <p:spPr>
          <a:xfrm>
            <a:off x="4114800" y="457200"/>
            <a:ext cx="21945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3"/>
            </p:custDataLst>
          </p:nvPr>
        </p:nvSpPr>
        <p:spPr>
          <a:xfrm>
            <a:off x="4197350" y="672465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A3B"/>
                </a:solidFill>
              </a:rPr>
              <a:t>Biochemical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4"/>
            </p:custDataLst>
          </p:nvPr>
        </p:nvSpPr>
        <p:spPr>
          <a:xfrm>
            <a:off x="4251960" y="1016635"/>
            <a:ext cx="1920240" cy="8528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Detects glucose, cortisol, lactate at molecular level</a:t>
            </a:r>
            <a:endParaRPr lang="en-US" sz="1050" dirty="0"/>
          </a:p>
        </p:txBody>
      </p:sp>
      <p:sp>
        <p:nvSpPr>
          <p:cNvPr id="18" name="Shape 16"/>
          <p:cNvSpPr/>
          <p:nvPr>
            <p:custDataLst>
              <p:tags r:id="rId5"/>
            </p:custDataLst>
          </p:nvPr>
        </p:nvSpPr>
        <p:spPr>
          <a:xfrm>
            <a:off x="6583680" y="457200"/>
            <a:ext cx="2194560" cy="1920240"/>
          </a:xfrm>
          <a:prstGeom prst="rect">
            <a:avLst/>
          </a:prstGeom>
          <a:solidFill>
            <a:srgbClr val="F0F9FB"/>
          </a:solidFill>
          <a:ln w="12700">
            <a:solidFill>
              <a:srgbClr val="D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6"/>
            </p:custDataLst>
          </p:nvPr>
        </p:nvSpPr>
        <p:spPr>
          <a:xfrm>
            <a:off x="6583680" y="457200"/>
            <a:ext cx="21945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7"/>
            </p:custDataLst>
          </p:nvPr>
        </p:nvSpPr>
        <p:spPr>
          <a:xfrm>
            <a:off x="6720840" y="683260"/>
            <a:ext cx="1920240" cy="2324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A3B"/>
                </a:solidFill>
              </a:rPr>
              <a:t>Wireless</a:t>
            </a:r>
            <a:endParaRPr lang="en-US" sz="1400" dirty="0"/>
          </a:p>
        </p:txBody>
      </p:sp>
      <p:sp>
        <p:nvSpPr>
          <p:cNvPr id="22" name="Text 20"/>
          <p:cNvSpPr/>
          <p:nvPr>
            <p:custDataLst>
              <p:tags r:id="rId8"/>
            </p:custDataLst>
          </p:nvPr>
        </p:nvSpPr>
        <p:spPr>
          <a:xfrm>
            <a:off x="6720840" y="993775"/>
            <a:ext cx="1920240" cy="8934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BLE / NFC data transmission to smartphone or gateway</a:t>
            </a:r>
            <a:endParaRPr lang="en-US" sz="1050" dirty="0"/>
          </a:p>
        </p:txBody>
      </p:sp>
      <p:sp>
        <p:nvSpPr>
          <p:cNvPr id="23" name="Shape 21"/>
          <p:cNvSpPr/>
          <p:nvPr>
            <p:custDataLst>
              <p:tags r:id="rId9"/>
            </p:custDataLst>
          </p:nvPr>
        </p:nvSpPr>
        <p:spPr>
          <a:xfrm>
            <a:off x="4114800" y="2651760"/>
            <a:ext cx="2194560" cy="1920240"/>
          </a:xfrm>
          <a:prstGeom prst="rect">
            <a:avLst/>
          </a:prstGeom>
          <a:solidFill>
            <a:srgbClr val="F0F9FB"/>
          </a:solidFill>
          <a:ln w="12700">
            <a:solidFill>
              <a:srgbClr val="D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10"/>
            </p:custDataLst>
          </p:nvPr>
        </p:nvSpPr>
        <p:spPr>
          <a:xfrm>
            <a:off x="4114800" y="2651760"/>
            <a:ext cx="2194560" cy="64008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11"/>
            </p:custDataLst>
          </p:nvPr>
        </p:nvSpPr>
        <p:spPr>
          <a:xfrm>
            <a:off x="4251960" y="2895600"/>
            <a:ext cx="1920240" cy="3594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A3B"/>
                </a:solidFill>
              </a:rPr>
              <a:t>Flexible</a:t>
            </a:r>
            <a:endParaRPr lang="en-US" sz="1400" dirty="0"/>
          </a:p>
        </p:txBody>
      </p:sp>
      <p:sp>
        <p:nvSpPr>
          <p:cNvPr id="27" name="Text 25"/>
          <p:cNvSpPr/>
          <p:nvPr>
            <p:custDataLst>
              <p:tags r:id="rId12"/>
            </p:custDataLst>
          </p:nvPr>
        </p:nvSpPr>
        <p:spPr>
          <a:xfrm>
            <a:off x="4251960" y="3382645"/>
            <a:ext cx="1920240" cy="9861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Polyimide &amp; hydrogel substrates conform to skin naturally</a:t>
            </a:r>
            <a:endParaRPr lang="en-US" sz="1050" dirty="0"/>
          </a:p>
        </p:txBody>
      </p:sp>
      <p:sp>
        <p:nvSpPr>
          <p:cNvPr id="28" name="Shape 26"/>
          <p:cNvSpPr/>
          <p:nvPr>
            <p:custDataLst>
              <p:tags r:id="rId13"/>
            </p:custDataLst>
          </p:nvPr>
        </p:nvSpPr>
        <p:spPr>
          <a:xfrm>
            <a:off x="6583680" y="2651760"/>
            <a:ext cx="2194560" cy="1920240"/>
          </a:xfrm>
          <a:prstGeom prst="rect">
            <a:avLst/>
          </a:prstGeom>
          <a:solidFill>
            <a:srgbClr val="F0F9FB"/>
          </a:solidFill>
          <a:ln w="12700">
            <a:solidFill>
              <a:srgbClr val="D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>
            <p:custDataLst>
              <p:tags r:id="rId14"/>
            </p:custDataLst>
          </p:nvPr>
        </p:nvSpPr>
        <p:spPr>
          <a:xfrm>
            <a:off x="6583680" y="2651760"/>
            <a:ext cx="2194560" cy="640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15"/>
            </p:custDataLst>
          </p:nvPr>
        </p:nvSpPr>
        <p:spPr>
          <a:xfrm>
            <a:off x="6720840" y="290703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2A3B"/>
                </a:solidFill>
              </a:rPr>
              <a:t>AI-Powered</a:t>
            </a:r>
            <a:endParaRPr lang="en-US" sz="1400" dirty="0"/>
          </a:p>
        </p:txBody>
      </p:sp>
      <p:sp>
        <p:nvSpPr>
          <p:cNvPr id="32" name="Text 30"/>
          <p:cNvSpPr/>
          <p:nvPr>
            <p:custDataLst>
              <p:tags r:id="rId16"/>
            </p:custDataLst>
          </p:nvPr>
        </p:nvSpPr>
        <p:spPr>
          <a:xfrm>
            <a:off x="6720840" y="3352165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On-device ML inference for real-time anomaly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BIOMARKERS TRACKED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01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486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005840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COMMERCIAL CASES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A3B"/>
                </a:solidFill>
              </a:rPr>
              <a:t>Blood Glucose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NORMAL RANGE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" y="235000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70–180 mg/dL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HOW DETECTED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308152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Glucose oxidase enzyme reacts with glucose → electrical current ∝ concentration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61188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USE CASES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381304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Diabetes management, metabolic health, energy monitoring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34340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KEY PLAYERS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1480" y="454456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Abbott FreeStyle Libre, Dexcom G7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743200" cy="386905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143000"/>
            <a:ext cx="1005840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14300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EMERGING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337560" y="16916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A3B"/>
                </a:solidFill>
              </a:rPr>
              <a:t>Cortisol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37560" y="21488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NORMAL RANGE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37560" y="235000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10–25 nmol/L in sweat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288036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HOW DETECTED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37560" y="308152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Electrochemical immunosensors or aptamer-based sensors detect cortisol in sweat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361188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USE CASES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37560" y="381304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Stress monitoring, immune function, sleep quality, weight management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434340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KEY PLAYERS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37560" y="454456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UC Berkeley &amp; Stanford (research phase)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1097280"/>
            <a:ext cx="2743200" cy="385254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97280"/>
            <a:ext cx="274320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143000"/>
            <a:ext cx="1005840" cy="18288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14300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EARLY MARKET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263640" y="1691640"/>
            <a:ext cx="2468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42A3B"/>
                </a:solidFill>
              </a:rPr>
              <a:t>Hydration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63640" y="214884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C39A"/>
                </a:solidFill>
              </a:rPr>
              <a:t>NORMAL RANGE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63640" y="235000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Na⁺: 10–100 mmol/L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288036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C39A"/>
                </a:solidFill>
              </a:rPr>
              <a:t>HOW DETECTED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63640" y="308152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Ion-selective electrodes detect Na⁺, K⁺, Cl⁻ electrolytes in sweat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361188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C39A"/>
                </a:solidFill>
              </a:rPr>
              <a:t>USE CASES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63640" y="381304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Athletic performance, elderly care, kidney &amp; heart health monitoring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4343400"/>
            <a:ext cx="2468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C39A"/>
                </a:solidFill>
              </a:rPr>
              <a:t>KEY PLAYERS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63640" y="454456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Epicore Biosystems, Gatorade GX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HARDWARE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97280" y="1188720"/>
            <a:ext cx="6583680" cy="512064"/>
          </a:xfrm>
          <a:prstGeom prst="rect">
            <a:avLst/>
          </a:prstGeom>
          <a:solidFill>
            <a:srgbClr val="F4845F">
              <a:alpha val="18000"/>
            </a:srgbClr>
          </a:solidFill>
          <a:ln w="12700">
            <a:solidFill>
              <a:srgbClr val="F4845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88720"/>
            <a:ext cx="109728" cy="512064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1280160"/>
            <a:ext cx="731520" cy="25603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28016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42A3B"/>
                </a:solidFill>
              </a:rPr>
              <a:t>INPUT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25880" y="1225296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Biofluid Interface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Hydrogel membrane collects sweat / interstitial fluid from skin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1819656"/>
            <a:ext cx="6583680" cy="512064"/>
          </a:xfrm>
          <a:prstGeom prst="rect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819656"/>
            <a:ext cx="109728" cy="5120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911096"/>
            <a:ext cx="7315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911096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42A3B"/>
                </a:solidFill>
              </a:rPr>
              <a:t>DETECT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25880" y="185623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Sensor Array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093976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Electrochemical electrodes (Au, Pt) + optical (PPG) sensors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2450592"/>
            <a:ext cx="6583680" cy="512064"/>
          </a:xfrm>
          <a:prstGeom prst="rect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450592"/>
            <a:ext cx="109728" cy="5120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542032"/>
            <a:ext cx="7315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542032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42A3B"/>
                </a:solidFill>
              </a:rPr>
              <a:t>PROCESS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25880" y="2487168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Signal Conditioning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2724912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Instrumentation amplifiers, ADC, noise filters (Savitzky-Golay)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3081528"/>
            <a:ext cx="6583680" cy="512064"/>
          </a:xfrm>
          <a:prstGeom prst="rect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081528"/>
            <a:ext cx="109728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3172968"/>
            <a:ext cx="73152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17296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42A3B"/>
                </a:solidFill>
              </a:rPr>
              <a:t>COMPUTE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25880" y="3118104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Microcontroller / SoC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355848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ARM Cortex-M4, TinyML inference, power management IC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7280" y="3712464"/>
            <a:ext cx="6583680" cy="512064"/>
          </a:xfrm>
          <a:prstGeom prst="rect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7280" y="3712464"/>
            <a:ext cx="109728" cy="5120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803904"/>
            <a:ext cx="73152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8039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42A3B"/>
                </a:solidFill>
              </a:rPr>
              <a:t>TRANSMIT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325880" y="3749040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Wireless Module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3986784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Bluetooth Low Energy 5.0 (BLE) or NFC for data transmission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0" y="4343400"/>
            <a:ext cx="6583680" cy="512064"/>
          </a:xfrm>
          <a:prstGeom prst="rect">
            <a:avLst/>
          </a:prstGeom>
          <a:solidFill>
            <a:srgbClr val="F9C74F">
              <a:alpha val="18000"/>
            </a:srgbClr>
          </a:solidFill>
          <a:ln w="12700">
            <a:solidFill>
              <a:srgbClr val="F9C74F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4343400"/>
            <a:ext cx="109728" cy="5120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4434840"/>
            <a:ext cx="731520" cy="25603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4348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42A3B"/>
                </a:solidFill>
              </a:rPr>
              <a:t>POWER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325880" y="4379976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Flexible Power + Substrate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25880" y="4617720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Biofuel cell or thin-film battery • Polyimide / PDMS base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97680" y="1700784"/>
            <a:ext cx="3657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8D0"/>
                </a:solidFill>
              </a:rPr>
              <a:t>▼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97680" y="2331720"/>
            <a:ext cx="3657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8D0"/>
                </a:solidFill>
              </a:rPr>
              <a:t>▼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97680" y="2962656"/>
            <a:ext cx="3657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8D0"/>
                </a:solidFill>
              </a:rPr>
              <a:t>▼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297680" y="3593592"/>
            <a:ext cx="3657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8D0"/>
                </a:solidFill>
              </a:rPr>
              <a:t>▼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297680" y="4224528"/>
            <a:ext cx="3657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8D0"/>
                </a:solidFill>
              </a:rPr>
              <a:t>▼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1234440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845F"/>
                </a:solidFill>
              </a:rPr>
              <a:t>SKIN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663440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</a:rPr>
              <a:t>CLOUD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TRAJECTORY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1097280" cy="10972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1371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PATCH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(Sensor)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783080"/>
            <a:ext cx="228600" cy="54864"/>
          </a:xfrm>
          <a:prstGeom prst="rect">
            <a:avLst/>
          </a:prstGeom>
          <a:solidFill>
            <a:srgbClr val="2C6B7A"/>
          </a:solidFill>
          <a:ln w="12700">
            <a:solidFill>
              <a:srgbClr val="2C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719072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Raw analog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signal (mV, μA)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28016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280160"/>
            <a:ext cx="1371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EDGE MCU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(On-Patch)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1783080"/>
            <a:ext cx="228600" cy="54864"/>
          </a:xfrm>
          <a:prstGeom prst="rect">
            <a:avLst/>
          </a:prstGeom>
          <a:solidFill>
            <a:srgbClr val="2C6B7A"/>
          </a:solidFill>
          <a:ln w="12700">
            <a:solidFill>
              <a:srgbClr val="2C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719072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ADC, noise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filtering, 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77640" y="1280160"/>
            <a:ext cx="1097280" cy="10972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0" y="1280160"/>
            <a:ext cx="1371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SMARTPHONE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(Gateway)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12080" y="1783080"/>
            <a:ext cx="228600" cy="54864"/>
          </a:xfrm>
          <a:prstGeom prst="rect">
            <a:avLst/>
          </a:prstGeom>
          <a:solidFill>
            <a:srgbClr val="2C6B7A"/>
          </a:solidFill>
          <a:ln w="12700">
            <a:solidFill>
              <a:srgbClr val="2C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719072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Feature extraction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anomaly flags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280160"/>
            <a:ext cx="1097280" cy="10972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1280160"/>
            <a:ext cx="1371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CLOUD 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SERVER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03720" y="1783080"/>
            <a:ext cx="228600" cy="54864"/>
          </a:xfrm>
          <a:prstGeom prst="rect">
            <a:avLst/>
          </a:prstGeom>
          <a:solidFill>
            <a:srgbClr val="2C6B7A"/>
          </a:solidFill>
          <a:ln w="12700">
            <a:solidFill>
              <a:srgbClr val="2C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719072"/>
            <a:ext cx="1828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LSTM inference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trend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1280160"/>
            <a:ext cx="1097280" cy="109728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280160"/>
            <a:ext cx="1371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/ ALERT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23760" y="2468880"/>
            <a:ext cx="1371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Clinician 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6B7A"/>
                </a:solidFill>
              </a:rPr>
              <a:t>user notification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200400"/>
            <a:ext cx="82296" cy="16916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918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Electrochemical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2331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Voltage &amp; current readings from enzyme-based sensors — converted to concentration values via calibration ML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3200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200400"/>
            <a:ext cx="82296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2918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Optical (PPG)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83280" y="3703320"/>
            <a:ext cx="2331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Photoplethysmography for heart rate, SpO2, and blood volume pulse signals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2004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200400"/>
            <a:ext cx="82296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3291840"/>
            <a:ext cx="2331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Contextual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703320"/>
            <a:ext cx="2331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6B7A"/>
                </a:solidFill>
              </a:rPr>
              <a:t>Accelerometer, skin temperature, ambient humidity — used as correction factors in ML models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MACHINE LEARNING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C8D0"/>
                </a:solidFill>
              </a:rPr>
              <a:t>5 stages from raw sensor signal to actionable health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143000"/>
            <a:ext cx="7772400" cy="676656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216152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8D0"/>
                </a:solidFill>
              </a:rPr>
              <a:t>Baseline drift removal → Savitzky-Golay smoothing → Min-Max normalization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325880"/>
            <a:ext cx="2011680" cy="27432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258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A3B"/>
                </a:solidFill>
              </a:rPr>
              <a:t>Python / SciPy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025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1911096"/>
            <a:ext cx="7772400" cy="676656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984248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Calibration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258568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8D0"/>
                </a:solidFill>
              </a:rPr>
              <a:t>Maps raw voltage/current to actual biomarker concentration (mg/dL, nmol/L)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093976"/>
            <a:ext cx="20116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09397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A3B"/>
                </a:solidFill>
              </a:rPr>
              <a:t>Gradient Boosting / SVR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7063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706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2679192"/>
            <a:ext cx="7772400" cy="676656"/>
          </a:xfrm>
          <a:prstGeom prst="rect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275234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26664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8D0"/>
                </a:solidFill>
              </a:rPr>
              <a:t>Personalized Isolation Forest flags unusual glucose spikes, stress surges, dehydration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862072"/>
            <a:ext cx="20116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8620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A3B"/>
                </a:solidFill>
              </a:rPr>
              <a:t>Isolation Forest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53872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387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" y="3447288"/>
            <a:ext cx="7772400" cy="676656"/>
          </a:xfrm>
          <a:prstGeom prst="rect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52044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Predictive LSTM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379476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8D0"/>
                </a:solidFill>
              </a:rPr>
              <a:t>Time-series forecasting predicts glucose/cortisol levels 30–60 minutes ahead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3630168"/>
            <a:ext cx="201168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6301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A3B"/>
                </a:solidFill>
              </a:rPr>
              <a:t>LSTM / Transformer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306824"/>
            <a:ext cx="502920" cy="50292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30682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05840" y="4215384"/>
            <a:ext cx="7772400" cy="676656"/>
          </a:xfrm>
          <a:prstGeom prst="rect">
            <a:avLst/>
          </a:prstGeom>
          <a:solidFill>
            <a:srgbClr val="F9C74F">
              <a:alpha val="10000"/>
            </a:srgbClr>
          </a:solidFill>
          <a:ln w="12700">
            <a:solidFill>
              <a:srgbClr val="F9C74F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4288536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Federated Learning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" y="4562856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C8D0"/>
                </a:solidFill>
              </a:rPr>
              <a:t>Devices train locally; only weight updates shared to cloud — never raw health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4398264"/>
            <a:ext cx="2011680" cy="2743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39826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2A3B"/>
                </a:solidFill>
              </a:rPr>
              <a:t>TensorFlow Federated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350"/>
            <a:ext cx="91440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2A3B"/>
                </a:solidFill>
              </a:rPr>
              <a:t>ML MODELS IN DEPTH</a:t>
            </a:r>
            <a:endParaRPr lang="en-US" sz="2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E2D3D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57200" y="10972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</a:rPr>
              <a:t>ANOMALY DETECTION</a:t>
            </a:r>
            <a:endParaRPr lang="en-US" sz="9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11480" y="1417320"/>
            <a:ext cx="38404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sklearn.ensemble import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IsolationForest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detector = IsolationForest(
</a:t>
            </a:r>
            <a:r>
              <a:rPr lang="en-US" sz="1000" dirty="0">
                <a:solidFill>
                  <a:srgbClr val="9CDC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contamination=0.05,
</a:t>
            </a:r>
            <a:r>
              <a:rPr lang="en-US" sz="1000" dirty="0">
                <a:solidFill>
                  <a:srgbClr val="9CDC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n_estimators=100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detector.fit(normal_data)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0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Real-time inference
</a:t>
            </a:r>
            <a:r>
              <a:rPr lang="en-US" sz="1000" dirty="0">
                <a:solidFill>
                  <a:srgbClr val="9CDC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score = detector.score_samples(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[new_reading])[0]
</a:t>
            </a:r>
            <a:r>
              <a:rPr lang="en-US" sz="1000" dirty="0">
                <a:solidFill>
                  <a:srgbClr val="9CDCF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alert = score &lt; -0.3</a:t>
            </a:r>
            <a:endParaRPr lang="en-US" sz="10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1E2D3D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96"/>
                </a:solidFill>
              </a:rPr>
              <a:t>LSTM PREDICTOR</a:t>
            </a:r>
            <a:endParaRPr lang="en-US" sz="9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800600" y="1417320"/>
            <a:ext cx="393192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 = Sequential([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LSTM(128,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return_sequences=True,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input_shape=(60, 4)),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Dropout(0.2),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LSTM(64),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Dropout(0.2),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Dense(32,
</a:t>
            </a:r>
            <a:r>
              <a:rPr lang="en-US" sz="1000" dirty="0">
                <a:solidFill>
                  <a:srgbClr val="CE917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activation='relu'),
</a:t>
            </a:r>
            <a:r>
              <a:rPr lang="en-US" sz="1000" dirty="0">
                <a:solidFill>
                  <a:srgbClr val="4EC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Dense(30) # 30min ahead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])
</a:t>
            </a:r>
            <a:r>
              <a:rPr lang="en-US" sz="10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model.compile(
</a:t>
            </a:r>
            <a:r>
              <a:rPr lang="en-US" sz="1000" dirty="0">
                <a:solidFill>
                  <a:srgbClr val="CE917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loss='huber')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2A3B"/>
          </a:solidFill>
          <a:ln w="12700">
            <a:solidFill>
              <a:srgbClr val="042A3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REAL-TIME DEPLOYMENT STACK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F4845F">
              <a:alpha val="12000"/>
            </a:srgbClr>
          </a:solidFill>
          <a:ln w="12700">
            <a:solidFill>
              <a:srgbClr val="F4845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005840" cy="8686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005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TIER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17320" y="1078992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On-Patch Edge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399032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845F"/>
                </a:solidFill>
              </a:rPr>
              <a:t>TensorFlow Lite Micro  •  ARM Cortex-M4  •  BLE 5.0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6B7A"/>
                </a:solidFill>
              </a:rPr>
              <a:t>Noise filtering, basic anomaly scoring, signal compression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6B7A"/>
                </a:solidFill>
              </a:rPr>
              <a:t>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11680"/>
            <a:ext cx="10058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1005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TIER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17320" y="2084832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Mobile App (iOS / Android)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404872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8090"/>
                </a:solidFill>
              </a:rPr>
              <a:t>CoreML (iOS)  •  ONNX Runtime (Android)  •  React Native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606040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6B7A"/>
                </a:solidFill>
              </a:rPr>
              <a:t>Real-time dashboard, on-device LSTM inference, push notifications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83464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6B7A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8595360" cy="8686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17520"/>
            <a:ext cx="100584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17520"/>
            <a:ext cx="1005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TIER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17320" y="3090672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Cloud Backend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3410712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96"/>
                </a:solidFill>
              </a:rPr>
              <a:t>FastAPI + Docker + Kubernetes  •  MLflow  •  Airflow  •  AWS HealthLake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3611880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6B7A"/>
                </a:solidFill>
              </a:rPr>
              <a:t>Model retraining, federated aggregation, FHIR integration, HIPAA storage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0" y="3840480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6B7A"/>
                </a:solidFill>
              </a:rPr>
              <a:t>▼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23360"/>
            <a:ext cx="100584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23360"/>
            <a:ext cx="10058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42A3B"/>
                </a:solidFill>
              </a:rPr>
              <a:t>TIER 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417320" y="4096512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2A3B"/>
                </a:solidFill>
              </a:rPr>
              <a:t>Clinician Portal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4416552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</a:rPr>
              <a:t>React Dashboard  •  D3.js  •  HL7 FHIR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17320" y="4617720"/>
            <a:ext cx="7223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6B7A"/>
                </a:solidFill>
              </a:rPr>
              <a:t>Population-level views, alert triage, prescription triggers, EHR sync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CHALLENGES &amp; SOLUTIONS AS PER OUR IDEOLOGY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920240" cy="1188720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06424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⚠ CHALLENGE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307592"/>
            <a:ext cx="1691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2A3B"/>
                </a:solidFill>
              </a:rPr>
              <a:t>Sweat composition varies with activity level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1051560"/>
            <a:ext cx="36576" cy="1188720"/>
          </a:xfrm>
          <a:prstGeom prst="rect">
            <a:avLst/>
          </a:prstGeom>
          <a:solidFill>
            <a:srgbClr val="DDE8EA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106424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✓ SOLUTION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331720" y="1307592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Multivariate correction models using temperature, pH, and flow rate as co-sensors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1920240" cy="1188720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06424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⚠ CHALLENGE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46320" y="1307592"/>
            <a:ext cx="1691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2A3B"/>
                </a:solidFill>
              </a:rPr>
              <a:t>Sensor drift over time reduces accuracy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1051560"/>
            <a:ext cx="36576" cy="1188720"/>
          </a:xfrm>
          <a:prstGeom prst="rect">
            <a:avLst/>
          </a:prstGeom>
          <a:solidFill>
            <a:srgbClr val="DDE8EA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106424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✓ SOLUTION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12280" y="1307592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Automatic recalibration algorithms triggered by reference models or scheduled lab checks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1920240" cy="1188720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32304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⚠ CHALLENGE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5760" y="2633472"/>
            <a:ext cx="1691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2A3B"/>
                </a:solidFill>
              </a:rPr>
              <a:t>High individual variability between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94560" y="2377440"/>
            <a:ext cx="36576" cy="1188720"/>
          </a:xfrm>
          <a:prstGeom prst="rect">
            <a:avLst/>
          </a:prstGeom>
          <a:solidFill>
            <a:srgbClr val="DDE8EA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432304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✓ SOLUTION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331720" y="2633472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Personalized fine-tuning via transfer learning from a pre-trained global model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377440"/>
            <a:ext cx="1920240" cy="1188720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32304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⚠ CHALLENGE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46320" y="2633472"/>
            <a:ext cx="1691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2A3B"/>
                </a:solidFill>
              </a:rPr>
              <a:t>Battery life severely limited on flexible form factor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5120" y="2377440"/>
            <a:ext cx="36576" cy="1188720"/>
          </a:xfrm>
          <a:prstGeom prst="rect">
            <a:avLst/>
          </a:prstGeom>
          <a:solidFill>
            <a:srgbClr val="DDE8EA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2432304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✓ SOLUTION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12280" y="2633472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Biofuel cells (powered by sweat glucose) + NFC energy harvesting for passive operation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03320"/>
            <a:ext cx="1920240" cy="1188720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58184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⚠ CHALLENGE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" y="3959352"/>
            <a:ext cx="1691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2A3B"/>
                </a:solidFill>
              </a:rPr>
              <a:t>FDA regulatory approval is slow and costly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94560" y="3703320"/>
            <a:ext cx="36576" cy="1188720"/>
          </a:xfrm>
          <a:prstGeom prst="rect">
            <a:avLst/>
          </a:prstGeom>
          <a:solidFill>
            <a:srgbClr val="DDE8EA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758184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✓ SOLUTION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331720" y="3959352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510(k) De Novo pathway using established predicates; predicate matching from existing CGMs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7033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03320"/>
            <a:ext cx="1920240" cy="1188720"/>
          </a:xfrm>
          <a:prstGeom prst="rect">
            <a:avLst/>
          </a:prstGeom>
          <a:solidFill>
            <a:srgbClr val="F4845F">
              <a:alpha val="10000"/>
            </a:srgbClr>
          </a:solidFill>
          <a:ln w="12700">
            <a:solidFill>
              <a:srgbClr val="F4845F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758184"/>
            <a:ext cx="1737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4845F"/>
                </a:solidFill>
              </a:rPr>
              <a:t>⚠ CHALLENGE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46320" y="3959352"/>
            <a:ext cx="1691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42A3B"/>
                </a:solidFill>
              </a:rPr>
              <a:t>Raw health data privacy and security concerns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3703320"/>
            <a:ext cx="36576" cy="1188720"/>
          </a:xfrm>
          <a:prstGeom prst="rect">
            <a:avLst/>
          </a:prstGeom>
          <a:solidFill>
            <a:srgbClr val="DDE8EA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758184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A896"/>
                </a:solidFill>
              </a:rPr>
              <a:t>✓ SOLUTION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12280" y="3959352"/>
            <a:ext cx="2011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6B7A"/>
                </a:solidFill>
              </a:rPr>
              <a:t>Federated learning keeps data on-device; AES-256 encryption; HIPAA-compliant cloud storage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 LANDSCAPE &amp;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86868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9144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C39A"/>
                </a:solidFill>
              </a:rPr>
              <a:t>$62B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0"/>
                </a:solidFill>
              </a:rPr>
              <a:t>CGM market by 2030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938528"/>
            <a:ext cx="2743200" cy="86868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38528"/>
            <a:ext cx="91440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A896"/>
                </a:solidFill>
              </a:rPr>
              <a:t>422M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414016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0"/>
                </a:solidFill>
              </a:rPr>
              <a:t>Diabetics globally needing monitoring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962656"/>
            <a:ext cx="2743200" cy="868680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962656"/>
            <a:ext cx="91440" cy="86868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35808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9C74F"/>
                </a:solidFill>
              </a:rPr>
              <a:t>$300B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0"/>
                </a:solidFill>
              </a:rPr>
              <a:t>Annual cost of workplace stress (US)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986784"/>
            <a:ext cx="2743200" cy="868680"/>
          </a:xfrm>
          <a:prstGeom prst="rect">
            <a:avLst/>
          </a:prstGeom>
          <a:solidFill>
            <a:srgbClr val="F4845F">
              <a:alpha val="15000"/>
            </a:srgbClr>
          </a:solidFill>
          <a:ln w="12700">
            <a:solidFill>
              <a:srgbClr val="F4845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986784"/>
            <a:ext cx="91440" cy="8686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59936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4845F"/>
                </a:solidFill>
              </a:rPr>
              <a:t>28%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2920" y="446227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0C8D0"/>
                </a:solidFill>
              </a:rPr>
              <a:t>CAGR of wearable biosensor market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77724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1298448"/>
            <a:ext cx="411480" cy="41148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1709928"/>
            <a:ext cx="45720" cy="658368"/>
          </a:xfrm>
          <a:prstGeom prst="rect">
            <a:avLst/>
          </a:prstGeom>
          <a:solidFill>
            <a:srgbClr val="F4845F">
              <a:alpha val="40000"/>
            </a:srgbClr>
          </a:solidFill>
          <a:ln w="12700">
            <a:solidFill>
              <a:srgbClr val="F4845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1097280"/>
            <a:ext cx="4754880" cy="868680"/>
          </a:xfrm>
          <a:prstGeom prst="rect">
            <a:avLst/>
          </a:prstGeom>
          <a:solidFill>
            <a:srgbClr val="F4845F">
              <a:alpha val="12000"/>
            </a:srgbClr>
          </a:solidFill>
          <a:ln w="12700">
            <a:solidFill>
              <a:srgbClr val="F4845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1143000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4845F"/>
                </a:solidFill>
              </a:rPr>
              <a:t>PHASE 1 · 0–6 months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60520" y="1353312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&amp; Prototype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60520" y="1627632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Pick 1 biomarker • Build sensor MCU prototype • Collect labeled dataset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0" y="2276856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2688336"/>
            <a:ext cx="45720" cy="65836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0" y="2075688"/>
            <a:ext cx="4754880" cy="86868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121408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8090"/>
                </a:solidFill>
              </a:rPr>
              <a:t>PHASE 2 · 6–18 months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60520" y="2331720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Clinical Validation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60520" y="2606040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IRB trial (50–200 subjects) • Compare to gold-standard lab tests • Train ML 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0" y="3255264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3666744"/>
            <a:ext cx="45720" cy="658368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3054096"/>
            <a:ext cx="4754880" cy="8686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099816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A896"/>
                </a:solidFill>
              </a:rPr>
              <a:t>PHASE 3 · 18–36 months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60520" y="3310128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Regulatory &amp; Mfg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60520" y="3584448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FDA 510(k) / De Novo submission • CE Mark (Europe) • Scale manufacturing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74720" y="423367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4032504"/>
            <a:ext cx="4754880" cy="86868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4078224"/>
            <a:ext cx="45720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2C39A"/>
                </a:solidFill>
              </a:rPr>
              <a:t>PHASE 4 · 36+ months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60520" y="4288536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Commercial Launch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60520" y="4562856"/>
            <a:ext cx="4572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0C8D0"/>
                </a:solidFill>
              </a:rPr>
              <a:t>B2C direct • B2B hospital SaaS • Subscription analytics platform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Future of Proactive Healthcare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14800" cy="1508760"/>
          </a:xfrm>
          <a:prstGeom prst="rect">
            <a:avLst/>
          </a:prstGeom>
          <a:solidFill>
            <a:srgbClr val="F4845F">
              <a:alpha val="12000"/>
            </a:srgbClr>
          </a:solidFill>
          <a:ln w="12700">
            <a:solidFill>
              <a:srgbClr val="F4845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Biochemistry + AI = Breakthrough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C8D0"/>
                </a:solidFill>
              </a:rPr>
              <a:t>Combining electrochemical sensors with ML unlocks real-time insights never possible with traditional diagnostics.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4114800" cy="150876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6916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19072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Prevention Over Treatment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C8D0"/>
                </a:solidFill>
              </a:rPr>
              <a:t>Predictive LSTM models can warn users 30–60 minutes before critical biomarker events, enabling proactive action.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114800" cy="150876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410712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Privacy-First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C8D0"/>
                </a:solidFill>
              </a:rPr>
              <a:t>Federated learning ensures powerful population-level AI improvements without ever exposing raw patient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4114800" cy="150876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33832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3832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A3B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3410712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Biggest Opportunity: Cortisol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886200"/>
            <a:ext cx="3840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0C8D0"/>
                </a:solidFill>
              </a:rPr>
              <a:t>Stress monitoring has a massive market with almost no wearable solutions — whoever solves it first wins big.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2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3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4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5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6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7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8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9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0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1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2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3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4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5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6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7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8.xml><?xml version="1.0" encoding="utf-8"?>
<p:tagLst xmlns:p="http://schemas.openxmlformats.org/presentationml/2006/main">
  <p:tag name="KSO_WM_DIAGRAM_VIRTUALLY_FRAME" val="{&quot;height&quot;:273.6,&quot;left&quot;:28.8,&quot;top&quot;:97.2,&quot;width&quot;:651.6}"/>
</p:tagLst>
</file>

<file path=ppt/tags/tag19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0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1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2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3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4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5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6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7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8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29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30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31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32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33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34.xml><?xml version="1.0" encoding="utf-8"?>
<p:tagLst xmlns:p="http://schemas.openxmlformats.org/presentationml/2006/main">
  <p:tag name="KSO_WM_DIAGRAM_VIRTUALLY_FRAME" val="{&quot;height&quot;:327.6,&quot;left&quot;:318.6,&quot;top&quot;:32.4,&quot;width&quot;:372.6}"/>
</p:tagLst>
</file>

<file path=ppt/tags/tag35.xml><?xml version="1.0" encoding="utf-8"?>
<p:tagLst xmlns:p="http://schemas.openxmlformats.org/presentationml/2006/main">
  <p:tag name="KSO_WM_DIAGRAM_VIRTUALLY_FRAME" val="{&quot;height&quot;:302.4,&quot;left&quot;:21.6,&quot;top&quot;:79.2,&quot;width&quot;:676.8}"/>
</p:tagLst>
</file>

<file path=ppt/tags/tag36.xml><?xml version="1.0" encoding="utf-8"?>
<p:tagLst xmlns:p="http://schemas.openxmlformats.org/presentationml/2006/main">
  <p:tag name="KSO_WM_DIAGRAM_VIRTUALLY_FRAME" val="{&quot;height&quot;:302.4,&quot;left&quot;:21.6,&quot;top&quot;:79.2,&quot;width&quot;:676.8}"/>
</p:tagLst>
</file>

<file path=ppt/tags/tag37.xml><?xml version="1.0" encoding="utf-8"?>
<p:tagLst xmlns:p="http://schemas.openxmlformats.org/presentationml/2006/main">
  <p:tag name="KSO_WM_DIAGRAM_VIRTUALLY_FRAME" val="{&quot;height&quot;:302.4,&quot;left&quot;:21.6,&quot;top&quot;:79.2,&quot;width&quot;:676.8}"/>
</p:tagLst>
</file>

<file path=ppt/tags/tag38.xml><?xml version="1.0" encoding="utf-8"?>
<p:tagLst xmlns:p="http://schemas.openxmlformats.org/presentationml/2006/main">
  <p:tag name="KSO_WM_DIAGRAM_VIRTUALLY_FRAME" val="{&quot;height&quot;:302.4,&quot;left&quot;:21.6,&quot;top&quot;:79.2,&quot;width&quot;:676.8}"/>
</p:tagLst>
</file>

<file path=ppt/tags/tag39.xml><?xml version="1.0" encoding="utf-8"?>
<p:tagLst xmlns:p="http://schemas.openxmlformats.org/presentationml/2006/main">
  <p:tag name="KSO_WM_DIAGRAM_VIRTUALLY_FRAME" val="{&quot;height&quot;:302.4,&quot;left&quot;:21.6,&quot;top&quot;:79.2,&quot;width&quot;:676.8}"/>
</p:tagLst>
</file>

<file path=ppt/tags/tag40.xml><?xml version="1.0" encoding="utf-8"?>
<p:tagLst xmlns:p="http://schemas.openxmlformats.org/presentationml/2006/main">
  <p:tag name="KSO_WM_DIAGRAM_VIRTUALLY_FRAME" val="{&quot;height&quot;:302.4,&quot;left&quot;:21.6,&quot;top&quot;:79.2,&quot;width&quot;:676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7150</Words>
  <Application>WPS Presentation</Application>
  <PresentationFormat>On-screen Show (16:9)</PresentationFormat>
  <Paragraphs>444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Health Monitoring Patches</dc:title>
  <dc:creator>Health Tech Research</dc:creator>
  <dc:subject>PptxGenJS Presentation</dc:subject>
  <cp:lastModifiedBy>Sri Dhar</cp:lastModifiedBy>
  <cp:revision>8</cp:revision>
  <dcterms:created xsi:type="dcterms:W3CDTF">2026-02-17T15:13:00Z</dcterms:created>
  <dcterms:modified xsi:type="dcterms:W3CDTF">2026-02-17T15:35:57Z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913AC3D929D241D9984F3FB398B8AAAA_12</vt:lpwstr>
  </property>
  <property fmtid="{D5CDD505-2E9C-101B-9397-08002B2CF9AE}" pid="3" name="KSOProductBuildVer">
    <vt:lpwstr>1033-12.2.0.23196</vt:lpwstr>
  </property>
</Properties>
</file>