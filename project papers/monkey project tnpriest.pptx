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media/image2.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60" r:id="rId6"/>
    <p:sldId id="259" r:id="rId7"/>
    <p:sldId id="261" r:id="rId8"/>
    <p:sldId id="262" r:id="rId9"/>
    <p:sldId id="263" r:id="rId10"/>
    <p:sldId id="264" r:id="rId11"/>
  </p:sldIdLst>
  <p:sldSz cx="18288000" cy="10287000"/>
  <p:notesSz cx="6858000" cy="9144000"/>
  <p:embeddedFontLst>
    <p:embeddedFont>
      <p:font typeface="Montserrat Bold" panose="00000800000000000000"/>
      <p:bold r:id="rId15"/>
    </p:embeddedFont>
    <p:embeddedFont>
      <p:font typeface="Open Sans Bold" panose="020B0806030504020204"/>
      <p:bold r:id="rId16"/>
    </p:embeddedFont>
    <p:embeddedFont>
      <p:font typeface="Calibri" panose="020F0502020204030204" charset="0"/>
      <p:regular r:id="rId17"/>
      <p:bold r:id="rId18"/>
      <p:italic r:id="rId19"/>
      <p:boldItalic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52" d="100"/>
          <a:sy n="52" d="100"/>
        </p:scale>
        <p:origin x="850" y="29"/>
      </p:cViewPr>
      <p:guideLst>
        <p:guide orient="horz" pos="214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font" Target="fonts/font6.fntdata"/><Relationship Id="rId2" Type="http://schemas.openxmlformats.org/officeDocument/2006/relationships/theme" Target="theme/theme1.xml"/><Relationship Id="rId19" Type="http://schemas.openxmlformats.org/officeDocument/2006/relationships/font" Target="fonts/font5.fntdata"/><Relationship Id="rId18" Type="http://schemas.openxmlformats.org/officeDocument/2006/relationships/font" Target="fonts/font4.fntdata"/><Relationship Id="rId17" Type="http://schemas.openxmlformats.org/officeDocument/2006/relationships/font" Target="fonts/font3.fntdata"/><Relationship Id="rId16" Type="http://schemas.openxmlformats.org/officeDocument/2006/relationships/font" Target="fonts/font2.fntdata"/><Relationship Id="rId15" Type="http://schemas.openxmlformats.org/officeDocument/2006/relationships/font" Target="fonts/font1.fntdata"/><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jpe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9F2F7"/>
        </a:solidFill>
        <a:effectLst/>
      </p:bgPr>
    </p:bg>
    <p:spTree>
      <p:nvGrpSpPr>
        <p:cNvPr id="1" name=""/>
        <p:cNvGrpSpPr/>
        <p:nvPr/>
      </p:nvGrpSpPr>
      <p:grpSpPr>
        <a:xfrm>
          <a:off x="0" y="0"/>
          <a:ext cx="0" cy="0"/>
          <a:chOff x="0" y="0"/>
          <a:chExt cx="0" cy="0"/>
        </a:xfrm>
      </p:grpSpPr>
      <p:sp>
        <p:nvSpPr>
          <p:cNvPr id="2" name="Freeform 2"/>
          <p:cNvSpPr/>
          <p:nvPr/>
        </p:nvSpPr>
        <p:spPr>
          <a:xfrm flipH="1">
            <a:off x="11895947" y="6126972"/>
            <a:ext cx="7663164" cy="4904425"/>
          </a:xfrm>
          <a:custGeom>
            <a:avLst/>
            <a:gdLst/>
            <a:ahLst/>
            <a:cxnLst/>
            <a:rect l="l" t="t" r="r" b="b"/>
            <a:pathLst>
              <a:path w="7663164" h="4904425">
                <a:moveTo>
                  <a:pt x="7663164" y="0"/>
                </a:moveTo>
                <a:lnTo>
                  <a:pt x="0" y="0"/>
                </a:lnTo>
                <a:lnTo>
                  <a:pt x="0" y="4904425"/>
                </a:lnTo>
                <a:lnTo>
                  <a:pt x="7663164" y="4904425"/>
                </a:lnTo>
                <a:lnTo>
                  <a:pt x="7663164" y="0"/>
                </a:lnTo>
                <a:close/>
              </a:path>
            </a:pathLst>
          </a:custGeom>
          <a:blipFill>
            <a:blip r:embed="rId1">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1028700" y="527133"/>
            <a:ext cx="16320998" cy="1830249"/>
          </a:xfrm>
          <a:custGeom>
            <a:avLst/>
            <a:gdLst/>
            <a:ahLst/>
            <a:cxnLst/>
            <a:rect l="l" t="t" r="r" b="b"/>
            <a:pathLst>
              <a:path w="16320998" h="1830249">
                <a:moveTo>
                  <a:pt x="0" y="0"/>
                </a:moveTo>
                <a:lnTo>
                  <a:pt x="16320998" y="0"/>
                </a:lnTo>
                <a:lnTo>
                  <a:pt x="16320998" y="1830249"/>
                </a:lnTo>
                <a:lnTo>
                  <a:pt x="0" y="1830249"/>
                </a:lnTo>
                <a:lnTo>
                  <a:pt x="0" y="0"/>
                </a:lnTo>
                <a:close/>
              </a:path>
            </a:pathLst>
          </a:custGeom>
          <a:blipFill>
            <a:blip r:embed="rId3"/>
            <a:stretch>
              <a:fillRect t="-13190" b="-20569"/>
            </a:stretch>
          </a:blipFill>
        </p:spPr>
        <p:txBody>
          <a:bodyPr/>
          <a:lstStyle/>
          <a:p>
            <a:endParaRPr lang="en-IN"/>
          </a:p>
        </p:txBody>
      </p:sp>
      <p:sp>
        <p:nvSpPr>
          <p:cNvPr id="4" name="TextBox 4"/>
          <p:cNvSpPr txBox="1"/>
          <p:nvPr/>
        </p:nvSpPr>
        <p:spPr>
          <a:xfrm>
            <a:off x="4273793" y="2833632"/>
            <a:ext cx="8197691" cy="978410"/>
          </a:xfrm>
          <a:prstGeom prst="rect">
            <a:avLst/>
          </a:prstGeom>
        </p:spPr>
        <p:txBody>
          <a:bodyPr lIns="0" tIns="0" rIns="0" bIns="0" rtlCol="0" anchor="t">
            <a:spAutoFit/>
          </a:bodyPr>
          <a:lstStyle/>
          <a:p>
            <a:pPr algn="l">
              <a:lnSpc>
                <a:spcPts val="7325"/>
              </a:lnSpc>
            </a:pPr>
            <a:r>
              <a:rPr lang="en-US" sz="7400" b="1" dirty="0">
                <a:solidFill>
                  <a:srgbClr val="28568A"/>
                </a:solidFill>
                <a:latin typeface="Montserrat Bold" panose="00000800000000000000"/>
                <a:ea typeface="Montserrat Bold" panose="00000800000000000000"/>
                <a:cs typeface="Montserrat Bold" panose="00000800000000000000"/>
                <a:sym typeface="Montserrat Bold" panose="00000800000000000000"/>
              </a:rPr>
              <a:t>TN-IMPACT 2026</a:t>
            </a:r>
            <a:endParaRPr lang="en-US" sz="7400" b="1" dirty="0">
              <a:solidFill>
                <a:srgbClr val="28568A"/>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5" name="TextBox 5"/>
          <p:cNvSpPr txBox="1"/>
          <p:nvPr/>
        </p:nvSpPr>
        <p:spPr>
          <a:xfrm>
            <a:off x="3649088" y="3626895"/>
            <a:ext cx="10615983" cy="697039"/>
          </a:xfrm>
          <a:prstGeom prst="rect">
            <a:avLst/>
          </a:prstGeom>
        </p:spPr>
        <p:txBody>
          <a:bodyPr wrap="square" lIns="0" tIns="0" rIns="0" bIns="0" rtlCol="0" anchor="t">
            <a:spAutoFit/>
          </a:bodyPr>
          <a:lstStyle/>
          <a:p>
            <a:pPr algn="l">
              <a:lnSpc>
                <a:spcPts val="5790"/>
              </a:lnSpc>
            </a:pPr>
            <a:r>
              <a:rPr lang="en-US" sz="3900" b="1" dirty="0">
                <a:solidFill>
                  <a:srgbClr val="BC9C22"/>
                </a:solidFill>
                <a:latin typeface="Montserrat Bold" panose="00000800000000000000"/>
                <a:ea typeface="Montserrat Bold" panose="00000800000000000000"/>
                <a:cs typeface="Montserrat Bold" panose="00000800000000000000"/>
                <a:sym typeface="Montserrat Bold" panose="00000800000000000000"/>
              </a:rPr>
              <a:t>IDENTIFYING INDUSTRIAL CHALLENGES</a:t>
            </a:r>
            <a:endParaRPr lang="en-US" sz="3900" b="1" dirty="0">
              <a:solidFill>
                <a:srgbClr val="BC9C22"/>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6" name="TextBox 6"/>
          <p:cNvSpPr txBox="1"/>
          <p:nvPr/>
        </p:nvSpPr>
        <p:spPr>
          <a:xfrm>
            <a:off x="1028700" y="6041390"/>
            <a:ext cx="16402685" cy="1948180"/>
          </a:xfrm>
          <a:prstGeom prst="rect">
            <a:avLst/>
          </a:prstGeom>
        </p:spPr>
        <p:txBody>
          <a:bodyPr wrap="square" lIns="0" tIns="0" rIns="0" bIns="0" rtlCol="0" anchor="t">
            <a:spAutoFit/>
          </a:bodyPr>
          <a:lstStyle/>
          <a:p>
            <a:pPr algn="l">
              <a:lnSpc>
                <a:spcPts val="5065"/>
              </a:lnSpc>
            </a:pPr>
            <a:r>
              <a:rPr lang="en-US" sz="3410" b="1">
                <a:solidFill>
                  <a:srgbClr val="000000"/>
                </a:solidFill>
                <a:latin typeface="Montserrat Bold" panose="00000800000000000000"/>
                <a:ea typeface="Montserrat Bold" panose="00000800000000000000"/>
                <a:cs typeface="Montserrat Bold" panose="00000800000000000000"/>
                <a:sym typeface="Montserrat Bold" panose="00000800000000000000"/>
              </a:rPr>
              <a:t>PROBLEM STATEMENT NUMBER : TNI26046</a:t>
            </a:r>
            <a:endParaRPr lang="en-US" sz="3410" b="1">
              <a:solidFill>
                <a:srgbClr val="000000"/>
              </a:solidFill>
              <a:latin typeface="Montserrat Bold" panose="00000800000000000000"/>
              <a:ea typeface="Montserrat Bold" panose="00000800000000000000"/>
              <a:cs typeface="Montserrat Bold" panose="00000800000000000000"/>
              <a:sym typeface="Montserrat Bold" panose="00000800000000000000"/>
            </a:endParaRPr>
          </a:p>
          <a:p>
            <a:pPr algn="l">
              <a:lnSpc>
                <a:spcPts val="5065"/>
              </a:lnSpc>
            </a:pPr>
            <a:r>
              <a:rPr lang="en-US" sz="3410" b="1">
                <a:solidFill>
                  <a:srgbClr val="000000"/>
                </a:solidFill>
                <a:latin typeface="Montserrat Bold" panose="00000800000000000000"/>
                <a:ea typeface="Montserrat Bold" panose="00000800000000000000"/>
                <a:cs typeface="Montserrat Bold" panose="00000800000000000000"/>
                <a:sym typeface="Montserrat Bold" panose="00000800000000000000"/>
              </a:rPr>
              <a:t>PROBLEM STATEMENT TITLE : Create a Data Analytics Model to Reduce Reduction Rates in Small industries</a:t>
            </a:r>
            <a:endParaRPr lang="en-US" sz="3410" b="1">
              <a:solidFill>
                <a:srgbClr val="000000"/>
              </a:solidFill>
              <a:latin typeface="Montserrat Bold" panose="00000800000000000000"/>
              <a:ea typeface="Montserrat Bold" panose="00000800000000000000"/>
              <a:cs typeface="Montserrat Bold" panose="00000800000000000000"/>
              <a:sym typeface="Montserrat Bold" panose="0000080000000000000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9F2F7"/>
        </a:solidFill>
        <a:effectLst/>
      </p:bgPr>
    </p:bg>
    <p:spTree>
      <p:nvGrpSpPr>
        <p:cNvPr id="1" name=""/>
        <p:cNvGrpSpPr/>
        <p:nvPr/>
      </p:nvGrpSpPr>
      <p:grpSpPr>
        <a:xfrm>
          <a:off x="0" y="0"/>
          <a:ext cx="0" cy="0"/>
          <a:chOff x="0" y="0"/>
          <a:chExt cx="0" cy="0"/>
        </a:xfrm>
      </p:grpSpPr>
      <p:sp>
        <p:nvSpPr>
          <p:cNvPr id="2" name="Freeform 2"/>
          <p:cNvSpPr/>
          <p:nvPr/>
        </p:nvSpPr>
        <p:spPr>
          <a:xfrm flipH="1">
            <a:off x="11657709" y="6644975"/>
            <a:ext cx="7663164" cy="4904425"/>
          </a:xfrm>
          <a:custGeom>
            <a:avLst/>
            <a:gdLst/>
            <a:ahLst/>
            <a:cxnLst/>
            <a:rect l="l" t="t" r="r" b="b"/>
            <a:pathLst>
              <a:path w="7663164" h="4904425">
                <a:moveTo>
                  <a:pt x="7663164" y="0"/>
                </a:moveTo>
                <a:lnTo>
                  <a:pt x="0" y="0"/>
                </a:lnTo>
                <a:lnTo>
                  <a:pt x="0" y="4904425"/>
                </a:lnTo>
                <a:lnTo>
                  <a:pt x="7663164" y="4904425"/>
                </a:lnTo>
                <a:lnTo>
                  <a:pt x="7663164" y="0"/>
                </a:lnTo>
                <a:close/>
              </a:path>
            </a:pathLst>
          </a:custGeom>
          <a:blipFill>
            <a:blip r:embed="rId1">
              <a:extLst>
                <a:ext uri="{96DAC541-7B7A-43D3-8B79-37D633B846F1}">
                  <asvg:svgBlip xmlns:asvg="http://schemas.microsoft.com/office/drawing/2016/SVG/main" r:embed="rId2"/>
                </a:ext>
              </a:extLst>
            </a:blip>
            <a:stretch>
              <a:fillRect/>
            </a:stretch>
          </a:blipFill>
        </p:spPr>
        <p:txBody>
          <a:bodyPr/>
          <a:lstStyle/>
          <a:p>
            <a:endParaRPr lang="en-IN"/>
          </a:p>
        </p:txBody>
      </p:sp>
      <p:graphicFrame>
        <p:nvGraphicFramePr>
          <p:cNvPr id="3" name="Table 3"/>
          <p:cNvGraphicFramePr>
            <a:graphicFrameLocks noGrp="1"/>
          </p:cNvGraphicFramePr>
          <p:nvPr/>
        </p:nvGraphicFramePr>
        <p:xfrm>
          <a:off x="1242598" y="4886325"/>
          <a:ext cx="15292802" cy="4363361"/>
        </p:xfrm>
        <a:graphic>
          <a:graphicData uri="http://schemas.openxmlformats.org/drawingml/2006/table">
            <a:tbl>
              <a:tblPr/>
              <a:tblGrid>
                <a:gridCol w="1602749"/>
                <a:gridCol w="6643025"/>
                <a:gridCol w="2480046"/>
                <a:gridCol w="4566982"/>
              </a:tblGrid>
              <a:tr h="1278902">
                <a:tc>
                  <a:txBody>
                    <a:bodyPr/>
                    <a:lstStyle/>
                    <a:p>
                      <a:pPr algn="ctr">
                        <a:lnSpc>
                          <a:spcPts val="3080"/>
                        </a:lnSpc>
                        <a:defRPr/>
                      </a:pPr>
                      <a:r>
                        <a:rPr lang="en-US" sz="2200" b="1">
                          <a:solidFill>
                            <a:srgbClr val="000000"/>
                          </a:solidFill>
                          <a:latin typeface="Open Sans Bold" panose="020B0806030504020204"/>
                          <a:ea typeface="Open Sans Bold" panose="020B0806030504020204"/>
                          <a:cs typeface="Open Sans Bold" panose="020B0806030504020204"/>
                          <a:sym typeface="Open Sans Bold" panose="020B0806030504020204"/>
                        </a:rPr>
                        <a:t>S.NO</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080"/>
                        </a:lnSpc>
                        <a:defRPr/>
                      </a:pPr>
                      <a:r>
                        <a:rPr lang="en-US" sz="2200" b="1">
                          <a:solidFill>
                            <a:srgbClr val="000000"/>
                          </a:solidFill>
                          <a:latin typeface="Open Sans Bold" panose="020B0806030504020204"/>
                          <a:ea typeface="Open Sans Bold" panose="020B0806030504020204"/>
                          <a:cs typeface="Open Sans Bold" panose="020B0806030504020204"/>
                          <a:sym typeface="Open Sans Bold" panose="020B0806030504020204"/>
                        </a:rPr>
                        <a:t>STUDENT NAME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080"/>
                        </a:lnSpc>
                        <a:defRPr/>
                      </a:pPr>
                      <a:r>
                        <a:rPr lang="en-US" sz="2200" b="1">
                          <a:solidFill>
                            <a:srgbClr val="000000"/>
                          </a:solidFill>
                          <a:latin typeface="Open Sans Bold" panose="020B0806030504020204"/>
                          <a:ea typeface="Open Sans Bold" panose="020B0806030504020204"/>
                          <a:cs typeface="Open Sans Bold" panose="020B0806030504020204"/>
                          <a:sym typeface="Open Sans Bold" panose="020B0806030504020204"/>
                        </a:rPr>
                        <a:t>SEMESTER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080"/>
                        </a:lnSpc>
                        <a:defRPr/>
                      </a:pPr>
                      <a:r>
                        <a:rPr lang="en-US" sz="2200" b="1">
                          <a:solidFill>
                            <a:srgbClr val="000000"/>
                          </a:solidFill>
                          <a:latin typeface="Open Sans Bold" panose="020B0806030504020204"/>
                          <a:ea typeface="Open Sans Bold" panose="020B0806030504020204"/>
                          <a:cs typeface="Open Sans Bold" panose="020B0806030504020204"/>
                          <a:sym typeface="Open Sans Bold" panose="020B0806030504020204"/>
                        </a:rPr>
                        <a:t>DEPARTMENT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r>
              <a:tr h="1028153">
                <a:tc>
                  <a:txBody>
                    <a:bodyPr/>
                    <a:lstStyle/>
                    <a:p>
                      <a:pPr algn="ctr">
                        <a:lnSpc>
                          <a:spcPts val="2660"/>
                        </a:lnSpc>
                        <a:defRPr/>
                      </a:pPr>
                      <a:r>
                        <a:rPr lang="en-US" sz="2400"/>
                        <a:t>01</a:t>
                      </a:r>
                      <a:endParaRPr lang="en-US" sz="24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60"/>
                        </a:lnSpc>
                        <a:defRPr/>
                      </a:pPr>
                      <a:r>
                        <a:rPr lang="en-US" sz="2400"/>
                        <a:t>Saranya.P</a:t>
                      </a:r>
                      <a:endParaRPr lang="en-US" sz="24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60"/>
                        </a:lnSpc>
                        <a:defRPr/>
                      </a:pPr>
                      <a:r>
                        <a:rPr lang="en-US" sz="2400"/>
                        <a:t>IV</a:t>
                      </a:r>
                      <a:endParaRPr lang="en-US" sz="24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60"/>
                        </a:lnSpc>
                        <a:defRPr/>
                      </a:pPr>
                      <a:r>
                        <a:rPr lang="en-US" sz="2400"/>
                        <a:t>AI&amp;DS</a:t>
                      </a:r>
                      <a:endParaRPr lang="en-US" sz="24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r>
              <a:tr h="1028153">
                <a:tc>
                  <a:txBody>
                    <a:bodyPr/>
                    <a:lstStyle/>
                    <a:p>
                      <a:pPr algn="ctr">
                        <a:lnSpc>
                          <a:spcPts val="2660"/>
                        </a:lnSpc>
                        <a:defRPr/>
                      </a:pPr>
                      <a:r>
                        <a:rPr lang="en-US" sz="2400"/>
                        <a:t>02</a:t>
                      </a:r>
                      <a:endParaRPr lang="en-US" sz="24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60"/>
                        </a:lnSpc>
                        <a:defRPr/>
                      </a:pPr>
                      <a:r>
                        <a:rPr lang="en-US" sz="2400"/>
                        <a:t>Thiligavathi.V</a:t>
                      </a:r>
                      <a:endParaRPr lang="en-US" sz="24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60"/>
                        </a:lnSpc>
                        <a:defRPr/>
                      </a:pPr>
                      <a:r>
                        <a:rPr lang="en-US" sz="2400"/>
                        <a:t>IV</a:t>
                      </a:r>
                      <a:endParaRPr lang="en-US" sz="24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60"/>
                        </a:lnSpc>
                        <a:defRPr/>
                      </a:pPr>
                      <a:r>
                        <a:rPr lang="en-US" sz="2400"/>
                        <a:t>AI&amp;DS</a:t>
                      </a:r>
                      <a:endParaRPr lang="en-US" sz="24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r>
              <a:tr h="1028153">
                <a:tc>
                  <a:txBody>
                    <a:bodyPr/>
                    <a:lstStyle/>
                    <a:p>
                      <a:pPr algn="ctr">
                        <a:lnSpc>
                          <a:spcPts val="2660"/>
                        </a:lnSpc>
                        <a:defRPr/>
                      </a:pPr>
                      <a:r>
                        <a:rPr lang="en-US" sz="2400"/>
                        <a:t>03</a:t>
                      </a:r>
                      <a:endParaRPr lang="en-US" sz="24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60"/>
                        </a:lnSpc>
                        <a:defRPr/>
                      </a:pPr>
                      <a:r>
                        <a:rPr lang="en-US" sz="2400"/>
                        <a:t>Mithra.M</a:t>
                      </a:r>
                      <a:endParaRPr lang="en-US" sz="24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60"/>
                        </a:lnSpc>
                        <a:defRPr/>
                      </a:pPr>
                      <a:r>
                        <a:rPr lang="en-US" sz="2400"/>
                        <a:t>IV</a:t>
                      </a:r>
                      <a:endParaRPr lang="en-US" sz="24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60"/>
                        </a:lnSpc>
                        <a:defRPr/>
                      </a:pPr>
                      <a:r>
                        <a:rPr lang="en-US" sz="2400" dirty="0"/>
                        <a:t>CSE</a:t>
                      </a:r>
                      <a:endParaRPr lang="en-US" sz="24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r>
            </a:tbl>
          </a:graphicData>
        </a:graphic>
      </p:graphicFrame>
      <p:sp>
        <p:nvSpPr>
          <p:cNvPr id="4" name="TextBox 4"/>
          <p:cNvSpPr txBox="1"/>
          <p:nvPr/>
        </p:nvSpPr>
        <p:spPr>
          <a:xfrm>
            <a:off x="6003538" y="2177031"/>
            <a:ext cx="6280924" cy="668068"/>
          </a:xfrm>
          <a:prstGeom prst="rect">
            <a:avLst/>
          </a:prstGeom>
        </p:spPr>
        <p:txBody>
          <a:bodyPr lIns="0" tIns="0" rIns="0" bIns="0" rtlCol="0" anchor="t">
            <a:spAutoFit/>
          </a:bodyPr>
          <a:lstStyle/>
          <a:p>
            <a:pPr algn="l">
              <a:lnSpc>
                <a:spcPts val="5245"/>
              </a:lnSpc>
            </a:pPr>
            <a:r>
              <a:rPr lang="en-US" sz="5300" b="1" dirty="0">
                <a:solidFill>
                  <a:srgbClr val="28568A"/>
                </a:solidFill>
                <a:latin typeface="Montserrat Bold" panose="00000800000000000000"/>
                <a:ea typeface="Montserrat Bold" panose="00000800000000000000"/>
                <a:cs typeface="Montserrat Bold" panose="00000800000000000000"/>
                <a:sym typeface="Montserrat Bold" panose="00000800000000000000"/>
              </a:rPr>
              <a:t>Team details</a:t>
            </a:r>
            <a:endParaRPr lang="en-US" sz="5300" b="1" dirty="0">
              <a:solidFill>
                <a:srgbClr val="28568A"/>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5" name="TextBox 5"/>
          <p:cNvSpPr txBox="1"/>
          <p:nvPr/>
        </p:nvSpPr>
        <p:spPr>
          <a:xfrm>
            <a:off x="1242598" y="2731464"/>
            <a:ext cx="15802804" cy="1942465"/>
          </a:xfrm>
          <a:prstGeom prst="rect">
            <a:avLst/>
          </a:prstGeom>
        </p:spPr>
        <p:txBody>
          <a:bodyPr lIns="0" tIns="0" rIns="0" bIns="0" rtlCol="0" anchor="t">
            <a:spAutoFit/>
          </a:bodyPr>
          <a:lstStyle/>
          <a:p>
            <a:pPr>
              <a:lnSpc>
                <a:spcPts val="5050"/>
              </a:lnSpc>
            </a:pPr>
            <a:r>
              <a:rPr lang="en-US" sz="3400" b="1" dirty="0">
                <a:solidFill>
                  <a:srgbClr val="BC9C22"/>
                </a:solidFill>
                <a:latin typeface="Montserrat Bold" panose="00000800000000000000"/>
                <a:ea typeface="Montserrat Bold" panose="00000800000000000000"/>
                <a:cs typeface="Montserrat Bold" panose="00000800000000000000"/>
                <a:sym typeface="Montserrat Bold" panose="00000800000000000000"/>
              </a:rPr>
              <a:t>Team Name : Clever Mind</a:t>
            </a:r>
            <a:endParaRPr lang="en-US" sz="3400" b="1" dirty="0">
              <a:solidFill>
                <a:srgbClr val="BC9C22"/>
              </a:solidFill>
              <a:latin typeface="Montserrat Bold" panose="00000800000000000000"/>
              <a:ea typeface="Montserrat Bold" panose="00000800000000000000"/>
              <a:cs typeface="Montserrat Bold" panose="00000800000000000000"/>
              <a:sym typeface="Montserrat Bold" panose="00000800000000000000"/>
            </a:endParaRPr>
          </a:p>
          <a:p>
            <a:pPr algn="l">
              <a:lnSpc>
                <a:spcPts val="5050"/>
              </a:lnSpc>
            </a:pPr>
            <a:r>
              <a:rPr lang="en-US" sz="3400" b="1" dirty="0">
                <a:solidFill>
                  <a:srgbClr val="BC9C22"/>
                </a:solidFill>
                <a:latin typeface="Montserrat Bold" panose="00000800000000000000"/>
                <a:ea typeface="Montserrat Bold" panose="00000800000000000000"/>
                <a:cs typeface="Montserrat Bold" panose="00000800000000000000"/>
                <a:sym typeface="Montserrat Bold" panose="00000800000000000000"/>
              </a:rPr>
              <a:t>College Mentor Name : Dr.K.T. Senthilkumar</a:t>
            </a:r>
            <a:endParaRPr lang="en-US" sz="3400" b="1" dirty="0">
              <a:solidFill>
                <a:srgbClr val="BC9C22"/>
              </a:solidFill>
              <a:latin typeface="Montserrat Bold" panose="00000800000000000000"/>
              <a:ea typeface="Montserrat Bold" panose="00000800000000000000"/>
              <a:cs typeface="Montserrat Bold" panose="00000800000000000000"/>
              <a:sym typeface="Montserrat Bold" panose="00000800000000000000"/>
            </a:endParaRPr>
          </a:p>
          <a:p>
            <a:pPr>
              <a:lnSpc>
                <a:spcPts val="5050"/>
              </a:lnSpc>
            </a:pPr>
            <a:r>
              <a:rPr lang="en-US" sz="3400" b="1" dirty="0">
                <a:solidFill>
                  <a:srgbClr val="BC9C22"/>
                </a:solidFill>
                <a:latin typeface="Montserrat Bold" panose="00000800000000000000"/>
                <a:ea typeface="Montserrat Bold" panose="00000800000000000000"/>
                <a:cs typeface="Montserrat Bold" panose="00000800000000000000"/>
                <a:sym typeface="Montserrat Bold" panose="00000800000000000000"/>
              </a:rPr>
              <a:t>College Name: Er. Perumal Manimekalai College of Engineering </a:t>
            </a:r>
            <a:endParaRPr lang="en-US" sz="3400" b="1" dirty="0">
              <a:solidFill>
                <a:srgbClr val="BC9C22"/>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6" name="Freeform 6"/>
          <p:cNvSpPr/>
          <p:nvPr/>
        </p:nvSpPr>
        <p:spPr>
          <a:xfrm>
            <a:off x="1028700" y="0"/>
            <a:ext cx="16230600" cy="1865186"/>
          </a:xfrm>
          <a:custGeom>
            <a:avLst/>
            <a:gdLst/>
            <a:ahLst/>
            <a:cxnLst/>
            <a:rect l="l" t="t" r="r" b="b"/>
            <a:pathLst>
              <a:path w="16230600" h="1865186">
                <a:moveTo>
                  <a:pt x="0" y="0"/>
                </a:moveTo>
                <a:lnTo>
                  <a:pt x="16230600" y="0"/>
                </a:lnTo>
                <a:lnTo>
                  <a:pt x="16230600" y="1865186"/>
                </a:lnTo>
                <a:lnTo>
                  <a:pt x="0" y="1865186"/>
                </a:lnTo>
                <a:lnTo>
                  <a:pt x="0" y="0"/>
                </a:lnTo>
                <a:close/>
              </a:path>
            </a:pathLst>
          </a:custGeom>
          <a:blipFill>
            <a:blip r:embed="rId3"/>
            <a:stretch>
              <a:fillRect t="-10111" b="-20416"/>
            </a:stretch>
          </a:blipFill>
        </p:spPr>
        <p:txBody>
          <a:bodyPr/>
          <a:lstStyle/>
          <a:p>
            <a:endParaRPr lang="en-IN"/>
          </a:p>
        </p:txBody>
      </p:sp>
      <p:pic>
        <p:nvPicPr>
          <p:cNvPr id="7" name="Picture 6" descr="WhatsApp Image 2026-02-18 at 07.34.20"/>
          <p:cNvPicPr>
            <a:picLocks noChangeAspect="1"/>
          </p:cNvPicPr>
          <p:nvPr/>
        </p:nvPicPr>
        <p:blipFill>
          <a:blip r:embed="rId4"/>
          <a:stretch>
            <a:fillRect/>
          </a:stretch>
        </p:blipFill>
        <p:spPr>
          <a:xfrm>
            <a:off x="13554075" y="1790700"/>
            <a:ext cx="4039235" cy="220599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9F2F7"/>
        </a:solidFill>
        <a:effectLst/>
      </p:bgPr>
    </p:bg>
    <p:spTree>
      <p:nvGrpSpPr>
        <p:cNvPr id="1" name=""/>
        <p:cNvGrpSpPr/>
        <p:nvPr/>
      </p:nvGrpSpPr>
      <p:grpSpPr>
        <a:xfrm>
          <a:off x="0" y="0"/>
          <a:ext cx="0" cy="0"/>
          <a:chOff x="0" y="0"/>
          <a:chExt cx="0" cy="0"/>
        </a:xfrm>
      </p:grpSpPr>
      <p:sp>
        <p:nvSpPr>
          <p:cNvPr id="2" name="TextBox 2"/>
          <p:cNvSpPr txBox="1"/>
          <p:nvPr/>
        </p:nvSpPr>
        <p:spPr>
          <a:xfrm>
            <a:off x="1026160" y="2628900"/>
            <a:ext cx="17111345" cy="6967220"/>
          </a:xfrm>
          <a:prstGeom prst="rect">
            <a:avLst/>
          </a:prstGeom>
        </p:spPr>
        <p:txBody>
          <a:bodyPr wrap="square" lIns="0" tIns="0" rIns="0" bIns="0" rtlCol="0" anchor="t">
            <a:noAutofit/>
          </a:bodyPr>
          <a:lstStyle/>
          <a:p>
            <a:pPr algn="l">
              <a:lnSpc>
                <a:spcPts val="5940"/>
              </a:lnSpc>
            </a:pPr>
            <a:r>
              <a:rPr lang="en-US" sz="4000" b="1" dirty="0">
                <a:solidFill>
                  <a:srgbClr val="28568A"/>
                </a:solidFill>
                <a:latin typeface="Montserrat Bold" panose="00000800000000000000"/>
                <a:ea typeface="Montserrat Bold" panose="00000800000000000000"/>
                <a:cs typeface="Montserrat Bold" panose="00000800000000000000"/>
                <a:sym typeface="Montserrat Bold" panose="00000800000000000000"/>
              </a:rPr>
              <a:t>Problem statement:</a:t>
            </a:r>
            <a:endParaRPr lang="en-US" sz="4000" b="1" dirty="0">
              <a:solidFill>
                <a:srgbClr val="28568A"/>
              </a:solidFill>
              <a:latin typeface="Montserrat Bold" panose="00000800000000000000"/>
              <a:ea typeface="Montserrat Bold" panose="00000800000000000000"/>
              <a:cs typeface="Montserrat Bold" panose="00000800000000000000"/>
              <a:sym typeface="Montserrat Bold" panose="00000800000000000000"/>
            </a:endParaRPr>
          </a:p>
          <a:p>
            <a:pPr algn="l">
              <a:lnSpc>
                <a:spcPts val="5940"/>
              </a:lnSpc>
            </a:pPr>
            <a:r>
              <a:rPr lang="en-US" sz="4000" b="1" dirty="0">
                <a:solidFill>
                  <a:srgbClr val="28568A"/>
                </a:solidFill>
                <a:latin typeface="Montserrat Bold" panose="00000800000000000000"/>
                <a:ea typeface="Montserrat Bold" panose="00000800000000000000"/>
                <a:cs typeface="Montserrat Bold" panose="00000800000000000000"/>
                <a:sym typeface="Montserrat Bold" panose="00000800000000000000"/>
              </a:rPr>
              <a:t>                                     </a:t>
            </a:r>
            <a:r>
              <a:rPr lang="en-US" sz="4000" b="1" dirty="0">
                <a:gradFill>
                  <a:gsLst>
                    <a:gs pos="50000">
                      <a:schemeClr val="tx1"/>
                    </a:gs>
                    <a:gs pos="0">
                      <a:schemeClr val="tx1">
                        <a:lumMod val="25000"/>
                        <a:lumOff val="75000"/>
                      </a:schemeClr>
                    </a:gs>
                    <a:gs pos="100000">
                      <a:schemeClr val="tx1">
                        <a:lumMod val="85000"/>
                      </a:schemeClr>
                    </a:gs>
                  </a:gsLst>
                  <a:lin ang="5400000" scaled="1"/>
                </a:gradFill>
                <a:latin typeface="Montserrat Bold" panose="00000800000000000000"/>
                <a:ea typeface="Montserrat Bold" panose="00000800000000000000"/>
                <a:cs typeface="Montserrat Bold" panose="00000800000000000000"/>
                <a:sym typeface="Montserrat Bold" panose="00000800000000000000"/>
              </a:rPr>
              <a:t>  </a:t>
            </a:r>
            <a:r>
              <a:rPr lang="en-US" sz="4000" i="1" dirty="0">
                <a:gradFill>
                  <a:gsLst>
                    <a:gs pos="50000">
                      <a:schemeClr val="tx1"/>
                    </a:gs>
                    <a:gs pos="0">
                      <a:schemeClr val="tx1">
                        <a:lumMod val="25000"/>
                        <a:lumOff val="75000"/>
                      </a:schemeClr>
                    </a:gs>
                    <a:gs pos="100000">
                      <a:schemeClr val="tx1">
                        <a:lumMod val="85000"/>
                      </a:schemeClr>
                    </a:gs>
                  </a:gsLst>
                  <a:lin ang="5400000" scaled="1"/>
                </a:gradFill>
                <a:latin typeface="Montserrat Bold" panose="00000800000000000000"/>
                <a:ea typeface="Montserrat Bold" panose="00000800000000000000"/>
                <a:cs typeface="Montserrat Bold" panose="00000800000000000000"/>
                <a:sym typeface="Montserrat Bold" panose="00000800000000000000"/>
              </a:rPr>
              <a:t> </a:t>
            </a:r>
            <a:r>
              <a:rPr lang="en-US" altLang="en-US" sz="4000" i="1" dirty="0">
                <a:gradFill>
                  <a:gsLst>
                    <a:gs pos="50000">
                      <a:schemeClr val="tx1"/>
                    </a:gs>
                    <a:gs pos="0">
                      <a:schemeClr val="tx1">
                        <a:lumMod val="25000"/>
                        <a:lumOff val="75000"/>
                      </a:schemeClr>
                    </a:gs>
                    <a:gs pos="100000">
                      <a:schemeClr val="tx1">
                        <a:lumMod val="85000"/>
                      </a:schemeClr>
                    </a:gs>
                  </a:gsLst>
                  <a:lin ang="5400000" scaled="1"/>
                </a:gradFill>
                <a:latin typeface="Montserrat Bold" panose="00000800000000000000"/>
                <a:ea typeface="Montserrat Bold" panose="00000800000000000000"/>
                <a:cs typeface="Montserrat Bold" panose="00000800000000000000"/>
                <a:sym typeface="Montserrat Bold" panose="00000800000000000000"/>
              </a:rPr>
              <a:t>Small-scale manufacturing units face rejection rates ranging from 10% to 35%, significantly higher than the industry benchmark of 2–5%. The absence of structured data collection and analytical tools means that quality issues are identified only after defects have already occurred — leading to rework, scrap, delays, and financial losses that are disproportionately damaging for small businesses.</a:t>
            </a:r>
            <a:endParaRPr lang="en-US" altLang="en-US" sz="4000" i="1" dirty="0">
              <a:gradFill>
                <a:gsLst>
                  <a:gs pos="50000">
                    <a:schemeClr val="tx1"/>
                  </a:gs>
                  <a:gs pos="0">
                    <a:schemeClr val="tx1">
                      <a:lumMod val="25000"/>
                      <a:lumOff val="75000"/>
                    </a:schemeClr>
                  </a:gs>
                  <a:gs pos="100000">
                    <a:schemeClr val="tx1">
                      <a:lumMod val="85000"/>
                    </a:schemeClr>
                  </a:gs>
                </a:gsLst>
                <a:lin ang="5400000" scaled="1"/>
              </a:gradFill>
              <a:latin typeface="Montserrat Bold" panose="00000800000000000000"/>
              <a:ea typeface="Montserrat Bold" panose="00000800000000000000"/>
              <a:cs typeface="Montserrat Bold" panose="00000800000000000000"/>
              <a:sym typeface="Montserrat Bold" panose="00000800000000000000"/>
            </a:endParaRPr>
          </a:p>
          <a:p>
            <a:pPr algn="l">
              <a:lnSpc>
                <a:spcPts val="5940"/>
              </a:lnSpc>
            </a:pPr>
            <a:endParaRPr lang="en-US" altLang="en-US" sz="4000" i="1" dirty="0">
              <a:gradFill>
                <a:gsLst>
                  <a:gs pos="50000">
                    <a:schemeClr val="tx1"/>
                  </a:gs>
                  <a:gs pos="0">
                    <a:schemeClr val="tx1">
                      <a:lumMod val="25000"/>
                      <a:lumOff val="75000"/>
                    </a:schemeClr>
                  </a:gs>
                  <a:gs pos="100000">
                    <a:schemeClr val="tx1">
                      <a:lumMod val="85000"/>
                    </a:schemeClr>
                  </a:gs>
                </a:gsLst>
                <a:lin ang="5400000" scaled="1"/>
              </a:gradFill>
              <a:latin typeface="Montserrat Bold" panose="00000800000000000000"/>
              <a:ea typeface="Montserrat Bold" panose="00000800000000000000"/>
              <a:cs typeface="Montserrat Bold" panose="00000800000000000000"/>
              <a:sym typeface="Montserrat Bold" panose="00000800000000000000"/>
            </a:endParaRPr>
          </a:p>
        </p:txBody>
      </p:sp>
      <p:sp>
        <p:nvSpPr>
          <p:cNvPr id="3" name="Freeform 3"/>
          <p:cNvSpPr/>
          <p:nvPr/>
        </p:nvSpPr>
        <p:spPr>
          <a:xfrm>
            <a:off x="1028700" y="504623"/>
            <a:ext cx="16320998" cy="1852759"/>
          </a:xfrm>
          <a:custGeom>
            <a:avLst/>
            <a:gdLst/>
            <a:ahLst/>
            <a:cxnLst/>
            <a:rect l="l" t="t" r="r" b="b"/>
            <a:pathLst>
              <a:path w="16320998" h="1852759">
                <a:moveTo>
                  <a:pt x="0" y="0"/>
                </a:moveTo>
                <a:lnTo>
                  <a:pt x="16320998" y="0"/>
                </a:lnTo>
                <a:lnTo>
                  <a:pt x="16320998" y="1852759"/>
                </a:lnTo>
                <a:lnTo>
                  <a:pt x="0" y="1852759"/>
                </a:lnTo>
                <a:lnTo>
                  <a:pt x="0" y="0"/>
                </a:lnTo>
                <a:close/>
              </a:path>
            </a:pathLst>
          </a:custGeom>
          <a:blipFill>
            <a:blip r:embed="rId1"/>
            <a:stretch>
              <a:fillRect t="-11815" b="-20319"/>
            </a:stretch>
          </a:blipFill>
        </p:spPr>
        <p:txBody>
          <a:bodyPr/>
          <a:lstStyle/>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9F2F7"/>
        </a:solidFill>
        <a:effectLst/>
      </p:bgPr>
    </p:bg>
    <p:spTree>
      <p:nvGrpSpPr>
        <p:cNvPr id="1" name=""/>
        <p:cNvGrpSpPr/>
        <p:nvPr/>
      </p:nvGrpSpPr>
      <p:grpSpPr>
        <a:xfrm>
          <a:off x="0" y="0"/>
          <a:ext cx="0" cy="0"/>
          <a:chOff x="0" y="0"/>
          <a:chExt cx="0" cy="0"/>
        </a:xfrm>
      </p:grpSpPr>
      <p:sp>
        <p:nvSpPr>
          <p:cNvPr id="2" name="TextBox 2"/>
          <p:cNvSpPr txBox="1"/>
          <p:nvPr/>
        </p:nvSpPr>
        <p:spPr>
          <a:xfrm>
            <a:off x="1028700" y="2628900"/>
            <a:ext cx="16774795" cy="6391910"/>
          </a:xfrm>
          <a:prstGeom prst="rect">
            <a:avLst/>
          </a:prstGeom>
        </p:spPr>
        <p:txBody>
          <a:bodyPr wrap="square" lIns="0" tIns="0" rIns="0" bIns="0" rtlCol="0" anchor="t">
            <a:noAutofit/>
          </a:bodyPr>
          <a:lstStyle/>
          <a:p>
            <a:pPr algn="l">
              <a:lnSpc>
                <a:spcPts val="5940"/>
              </a:lnSpc>
            </a:pPr>
            <a:r>
              <a:rPr lang="en-US" sz="3600" b="1" dirty="0">
                <a:solidFill>
                  <a:srgbClr val="28568A"/>
                </a:solidFill>
                <a:latin typeface="Montserrat Bold" panose="00000800000000000000"/>
                <a:ea typeface="Montserrat Bold" panose="00000800000000000000"/>
                <a:cs typeface="Montserrat Bold" panose="00000800000000000000"/>
                <a:sym typeface="Montserrat Bold" panose="00000800000000000000"/>
              </a:rPr>
              <a:t>Problem description:</a:t>
            </a:r>
            <a:endParaRPr lang="en-US" sz="3600" b="1" dirty="0">
              <a:solidFill>
                <a:srgbClr val="28568A"/>
              </a:solidFill>
              <a:latin typeface="Montserrat Bold" panose="00000800000000000000"/>
              <a:ea typeface="Montserrat Bold" panose="00000800000000000000"/>
              <a:cs typeface="Montserrat Bold" panose="00000800000000000000"/>
              <a:sym typeface="Montserrat Bold" panose="00000800000000000000"/>
            </a:endParaRPr>
          </a:p>
          <a:p>
            <a:pPr algn="l">
              <a:lnSpc>
                <a:spcPts val="5940"/>
              </a:lnSpc>
            </a:pPr>
            <a:r>
              <a:rPr lang="en-US" sz="3600" b="1" dirty="0">
                <a:solidFill>
                  <a:srgbClr val="28568A"/>
                </a:solidFill>
                <a:latin typeface="Montserrat Bold" panose="00000800000000000000"/>
                <a:ea typeface="Montserrat Bold" panose="00000800000000000000"/>
                <a:cs typeface="Montserrat Bold" panose="00000800000000000000"/>
                <a:sym typeface="Montserrat Bold" panose="00000800000000000000"/>
              </a:rPr>
              <a:t>                                       </a:t>
            </a:r>
            <a:r>
              <a:rPr lang="en-US" sz="3600" i="1" dirty="0">
                <a:solidFill>
                  <a:srgbClr val="28568A"/>
                </a:solidFill>
                <a:latin typeface="Montserrat Bold" panose="00000800000000000000"/>
                <a:ea typeface="Montserrat Bold" panose="00000800000000000000"/>
                <a:cs typeface="Montserrat Bold" panose="00000800000000000000"/>
                <a:sym typeface="Montserrat Bold" panose="00000800000000000000"/>
              </a:rPr>
              <a:t> </a:t>
            </a:r>
            <a:r>
              <a:rPr lang="en-US" altLang="en-US" sz="3600" i="1" dirty="0">
                <a:gradFill>
                  <a:gsLst>
                    <a:gs pos="50000">
                      <a:schemeClr val="tx1"/>
                    </a:gs>
                    <a:gs pos="0">
                      <a:schemeClr val="tx1">
                        <a:lumMod val="25000"/>
                        <a:lumOff val="75000"/>
                      </a:schemeClr>
                    </a:gs>
                    <a:gs pos="100000">
                      <a:schemeClr val="tx1">
                        <a:lumMod val="85000"/>
                      </a:schemeClr>
                    </a:gs>
                  </a:gsLst>
                  <a:lin ang="5400000" scaled="1"/>
                </a:gradFill>
                <a:latin typeface="Montserrat Bold" panose="00000800000000000000"/>
                <a:ea typeface="Montserrat Bold" panose="00000800000000000000"/>
                <a:cs typeface="Montserrat Bold" panose="00000800000000000000"/>
                <a:sym typeface="Montserrat Bold" panose="00000800000000000000"/>
              </a:rPr>
              <a:t>Small and medium-sized industries often struggle with high product rejection rates due to limited resources, inconsistent processes, and lack of real-time quality monitoring. Unlike large corporations that can afford sophisticated quality control systems, small industries rely heavily on manual inspection and reactive problem-solving — resulting in significant material waste, increased production costs, and loss of customer trust.</a:t>
            </a:r>
            <a:endParaRPr lang="en-US" altLang="en-US" sz="3600" i="1" dirty="0">
              <a:gradFill>
                <a:gsLst>
                  <a:gs pos="50000">
                    <a:schemeClr val="tx1"/>
                  </a:gs>
                  <a:gs pos="0">
                    <a:schemeClr val="tx1">
                      <a:lumMod val="25000"/>
                      <a:lumOff val="75000"/>
                    </a:schemeClr>
                  </a:gs>
                  <a:gs pos="100000">
                    <a:schemeClr val="tx1">
                      <a:lumMod val="85000"/>
                    </a:schemeClr>
                  </a:gs>
                </a:gsLst>
                <a:lin ang="5400000" scaled="1"/>
              </a:gradFill>
              <a:latin typeface="Montserrat Bold" panose="00000800000000000000"/>
              <a:ea typeface="Montserrat Bold" panose="00000800000000000000"/>
              <a:cs typeface="Montserrat Bold" panose="00000800000000000000"/>
              <a:sym typeface="Montserrat Bold" panose="00000800000000000000"/>
            </a:endParaRPr>
          </a:p>
        </p:txBody>
      </p:sp>
      <p:sp>
        <p:nvSpPr>
          <p:cNvPr id="3" name="Freeform 3"/>
          <p:cNvSpPr/>
          <p:nvPr/>
        </p:nvSpPr>
        <p:spPr>
          <a:xfrm flipH="1">
            <a:off x="11657709" y="6644975"/>
            <a:ext cx="7663164" cy="4904425"/>
          </a:xfrm>
          <a:custGeom>
            <a:avLst/>
            <a:gdLst/>
            <a:ahLst/>
            <a:cxnLst/>
            <a:rect l="l" t="t" r="r" b="b"/>
            <a:pathLst>
              <a:path w="7663164" h="4904425">
                <a:moveTo>
                  <a:pt x="7663164" y="0"/>
                </a:moveTo>
                <a:lnTo>
                  <a:pt x="0" y="0"/>
                </a:lnTo>
                <a:lnTo>
                  <a:pt x="0" y="4904425"/>
                </a:lnTo>
                <a:lnTo>
                  <a:pt x="7663164" y="4904425"/>
                </a:lnTo>
                <a:lnTo>
                  <a:pt x="7663164" y="0"/>
                </a:lnTo>
                <a:close/>
              </a:path>
            </a:pathLst>
          </a:custGeom>
          <a:blipFill>
            <a:blip r:embed="rId1">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a:off x="1028700" y="459603"/>
            <a:ext cx="16320998" cy="1897779"/>
          </a:xfrm>
          <a:custGeom>
            <a:avLst/>
            <a:gdLst/>
            <a:ahLst/>
            <a:cxnLst/>
            <a:rect l="l" t="t" r="r" b="b"/>
            <a:pathLst>
              <a:path w="16320998" h="1897779">
                <a:moveTo>
                  <a:pt x="0" y="0"/>
                </a:moveTo>
                <a:lnTo>
                  <a:pt x="16320998" y="0"/>
                </a:lnTo>
                <a:lnTo>
                  <a:pt x="16320998" y="1897779"/>
                </a:lnTo>
                <a:lnTo>
                  <a:pt x="0" y="1897779"/>
                </a:lnTo>
                <a:lnTo>
                  <a:pt x="0" y="0"/>
                </a:lnTo>
                <a:close/>
              </a:path>
            </a:pathLst>
          </a:custGeom>
          <a:blipFill>
            <a:blip r:embed="rId3"/>
            <a:stretch>
              <a:fillRect t="-9162" b="-19837"/>
            </a:stretch>
          </a:blipFill>
        </p:spPr>
        <p:txBody>
          <a:bodyPr/>
          <a:lstStyle/>
          <a:p>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9F2F7"/>
        </a:solidFill>
        <a:effectLst/>
      </p:bgPr>
    </p:bg>
    <p:spTree>
      <p:nvGrpSpPr>
        <p:cNvPr id="1" name=""/>
        <p:cNvGrpSpPr/>
        <p:nvPr/>
      </p:nvGrpSpPr>
      <p:grpSpPr>
        <a:xfrm>
          <a:off x="0" y="0"/>
          <a:ext cx="0" cy="0"/>
          <a:chOff x="0" y="0"/>
          <a:chExt cx="0" cy="0"/>
        </a:xfrm>
      </p:grpSpPr>
      <p:sp>
        <p:nvSpPr>
          <p:cNvPr id="2" name="TextBox 2"/>
          <p:cNvSpPr txBox="1"/>
          <p:nvPr/>
        </p:nvSpPr>
        <p:spPr>
          <a:xfrm>
            <a:off x="7715592" y="2628900"/>
            <a:ext cx="2947213" cy="694229"/>
          </a:xfrm>
          <a:prstGeom prst="rect">
            <a:avLst/>
          </a:prstGeom>
        </p:spPr>
        <p:txBody>
          <a:bodyPr wrap="square" lIns="0" tIns="0" rIns="0" bIns="0" rtlCol="0" anchor="t">
            <a:spAutoFit/>
          </a:bodyPr>
          <a:lstStyle/>
          <a:p>
            <a:pPr algn="l">
              <a:lnSpc>
                <a:spcPts val="5940"/>
              </a:lnSpc>
            </a:pPr>
            <a:r>
              <a:rPr lang="en-US" sz="4000" b="1" dirty="0">
                <a:solidFill>
                  <a:srgbClr val="28568A"/>
                </a:solidFill>
                <a:latin typeface="Montserrat Bold" panose="00000800000000000000"/>
                <a:ea typeface="Montserrat Bold" panose="00000800000000000000"/>
                <a:cs typeface="Montserrat Bold" panose="00000800000000000000"/>
                <a:sym typeface="Montserrat Bold" panose="00000800000000000000"/>
              </a:rPr>
              <a:t>Objectives</a:t>
            </a:r>
            <a:endParaRPr lang="en-US" sz="4000" b="1" dirty="0">
              <a:solidFill>
                <a:srgbClr val="28568A"/>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3" name="Freeform 3"/>
          <p:cNvSpPr/>
          <p:nvPr/>
        </p:nvSpPr>
        <p:spPr>
          <a:xfrm flipH="1">
            <a:off x="12177741" y="6239794"/>
            <a:ext cx="7663164" cy="4904425"/>
          </a:xfrm>
          <a:custGeom>
            <a:avLst/>
            <a:gdLst/>
            <a:ahLst/>
            <a:cxnLst/>
            <a:rect l="l" t="t" r="r" b="b"/>
            <a:pathLst>
              <a:path w="7663164" h="4904425">
                <a:moveTo>
                  <a:pt x="7663163" y="0"/>
                </a:moveTo>
                <a:lnTo>
                  <a:pt x="0" y="0"/>
                </a:lnTo>
                <a:lnTo>
                  <a:pt x="0" y="4904425"/>
                </a:lnTo>
                <a:lnTo>
                  <a:pt x="7663163" y="4904425"/>
                </a:lnTo>
                <a:lnTo>
                  <a:pt x="7663163" y="0"/>
                </a:lnTo>
                <a:close/>
              </a:path>
            </a:pathLst>
          </a:custGeom>
          <a:blipFill>
            <a:blip r:embed="rId1">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a:off x="1028700" y="459603"/>
            <a:ext cx="16320998" cy="1897779"/>
          </a:xfrm>
          <a:custGeom>
            <a:avLst/>
            <a:gdLst/>
            <a:ahLst/>
            <a:cxnLst/>
            <a:rect l="l" t="t" r="r" b="b"/>
            <a:pathLst>
              <a:path w="16320998" h="1897779">
                <a:moveTo>
                  <a:pt x="0" y="0"/>
                </a:moveTo>
                <a:lnTo>
                  <a:pt x="16320998" y="0"/>
                </a:lnTo>
                <a:lnTo>
                  <a:pt x="16320998" y="1897779"/>
                </a:lnTo>
                <a:lnTo>
                  <a:pt x="0" y="1897779"/>
                </a:lnTo>
                <a:lnTo>
                  <a:pt x="0" y="0"/>
                </a:lnTo>
                <a:close/>
              </a:path>
            </a:pathLst>
          </a:custGeom>
          <a:blipFill>
            <a:blip r:embed="rId3"/>
            <a:stretch>
              <a:fillRect t="-9162" b="-19837"/>
            </a:stretch>
          </a:blipFill>
        </p:spPr>
        <p:txBody>
          <a:bodyPr/>
          <a:lstStyle/>
          <a:p>
            <a:endParaRPr lang="en-IN"/>
          </a:p>
        </p:txBody>
      </p:sp>
      <p:sp>
        <p:nvSpPr>
          <p:cNvPr id="5" name="Text Box 4"/>
          <p:cNvSpPr txBox="1"/>
          <p:nvPr/>
        </p:nvSpPr>
        <p:spPr>
          <a:xfrm>
            <a:off x="152400" y="3467100"/>
            <a:ext cx="17918430" cy="6751955"/>
          </a:xfrm>
          <a:prstGeom prst="rect">
            <a:avLst/>
          </a:prstGeom>
          <a:noFill/>
        </p:spPr>
        <p:txBody>
          <a:bodyPr wrap="square" rtlCol="0">
            <a:noAutofit/>
          </a:bodyPr>
          <a:p>
            <a:r>
              <a:rPr lang="en-US" altLang="en-US" sz="3600" b="1" i="1"/>
              <a:t>The model aims to achieve the following measurable goals:</a:t>
            </a:r>
            <a:endParaRPr lang="en-US" altLang="en-US" sz="3600" b="1" i="1"/>
          </a:p>
          <a:p>
            <a:pPr marL="571500" indent="-571500">
              <a:buFont typeface="Arial" panose="020B0604020202020204" pitchFamily="34" charset="0"/>
              <a:buChar char="•"/>
            </a:pPr>
            <a:r>
              <a:rPr lang="en-US" altLang="en-US" sz="3600" b="1" i="1"/>
              <a:t>Predict rejection probability for each production batch before it is completed, using real-time or near-real-time process parameters.</a:t>
            </a:r>
            <a:endParaRPr lang="en-US" altLang="en-US" sz="3600" b="1" i="1"/>
          </a:p>
          <a:p>
            <a:pPr marL="571500" indent="-571500">
              <a:buFont typeface="Arial" panose="020B0604020202020204" pitchFamily="34" charset="0"/>
              <a:buChar char="•"/>
            </a:pPr>
            <a:r>
              <a:rPr lang="en-US" altLang="en-US" sz="3600" b="1" i="1"/>
              <a:t>Identify the top contributing factors to rejections using feature importance analysis and root cause mapping.</a:t>
            </a:r>
            <a:endParaRPr lang="en-US" altLang="en-US" sz="3600" b="1" i="1"/>
          </a:p>
          <a:p>
            <a:pPr marL="571500" indent="-571500">
              <a:buFont typeface="Arial" panose="020B0604020202020204" pitchFamily="34" charset="0"/>
              <a:buChar char="•"/>
            </a:pPr>
            <a:r>
              <a:rPr lang="en-US" altLang="en-US" sz="3600" b="1" i="1"/>
              <a:t>Cluster defect patterns to group similar types of rejections and recommend targeted corrective actions for each cluster.</a:t>
            </a:r>
            <a:endParaRPr lang="en-US" altLang="en-US" sz="3600" b="1" i="1"/>
          </a:p>
          <a:p>
            <a:pPr marL="571500" indent="-571500">
              <a:buFont typeface="Arial" panose="020B0604020202020204" pitchFamily="34" charset="0"/>
              <a:buChar char="•"/>
            </a:pPr>
            <a:r>
              <a:rPr lang="en-US" altLang="en-US" sz="3600" b="1" i="1"/>
              <a:t>Monitor process drift by tracking key parameters over time and alerting operators when readings fall outside acceptable control limits.</a:t>
            </a:r>
            <a:endParaRPr lang="en-US" altLang="en-US" sz="3600" b="1" i="1"/>
          </a:p>
          <a:p>
            <a:pPr marL="571500" indent="-571500">
              <a:buFont typeface="Arial" panose="020B0604020202020204" pitchFamily="34" charset="0"/>
              <a:buChar char="•"/>
            </a:pPr>
            <a:r>
              <a:rPr lang="en-US" altLang="en-US" sz="3600" b="1" i="1"/>
              <a:t>Reduce overall rejection rates by at least 40–60% within 6 months of model deployment through data-informed decision-making</a:t>
            </a:r>
            <a:endParaRPr lang="en-US" altLang="en-US" sz="3600" b="1" i="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9F2F7"/>
        </a:solidFill>
        <a:effectLst/>
      </p:bgPr>
    </p:bg>
    <p:spTree>
      <p:nvGrpSpPr>
        <p:cNvPr id="1" name=""/>
        <p:cNvGrpSpPr/>
        <p:nvPr/>
      </p:nvGrpSpPr>
      <p:grpSpPr>
        <a:xfrm>
          <a:off x="0" y="0"/>
          <a:ext cx="0" cy="0"/>
          <a:chOff x="0" y="0"/>
          <a:chExt cx="0" cy="0"/>
        </a:xfrm>
      </p:grpSpPr>
      <p:sp>
        <p:nvSpPr>
          <p:cNvPr id="2" name="Freeform 2"/>
          <p:cNvSpPr/>
          <p:nvPr/>
        </p:nvSpPr>
        <p:spPr>
          <a:xfrm flipH="1">
            <a:off x="11657709" y="6644975"/>
            <a:ext cx="7663164" cy="4904425"/>
          </a:xfrm>
          <a:custGeom>
            <a:avLst/>
            <a:gdLst/>
            <a:ahLst/>
            <a:cxnLst/>
            <a:rect l="l" t="t" r="r" b="b"/>
            <a:pathLst>
              <a:path w="7663164" h="4904425">
                <a:moveTo>
                  <a:pt x="7663164" y="0"/>
                </a:moveTo>
                <a:lnTo>
                  <a:pt x="0" y="0"/>
                </a:lnTo>
                <a:lnTo>
                  <a:pt x="0" y="4904425"/>
                </a:lnTo>
                <a:lnTo>
                  <a:pt x="7663164" y="4904425"/>
                </a:lnTo>
                <a:lnTo>
                  <a:pt x="7663164" y="0"/>
                </a:lnTo>
                <a:close/>
              </a:path>
            </a:pathLst>
          </a:custGeom>
          <a:blipFill>
            <a:blip r:embed="rId1">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1028700" y="437093"/>
            <a:ext cx="16320998" cy="1920289"/>
          </a:xfrm>
          <a:custGeom>
            <a:avLst/>
            <a:gdLst/>
            <a:ahLst/>
            <a:cxnLst/>
            <a:rect l="l" t="t" r="r" b="b"/>
            <a:pathLst>
              <a:path w="16320998" h="1920289">
                <a:moveTo>
                  <a:pt x="0" y="0"/>
                </a:moveTo>
                <a:lnTo>
                  <a:pt x="16320998" y="0"/>
                </a:lnTo>
                <a:lnTo>
                  <a:pt x="16320998" y="1920289"/>
                </a:lnTo>
                <a:lnTo>
                  <a:pt x="0" y="1920289"/>
                </a:lnTo>
                <a:lnTo>
                  <a:pt x="0" y="0"/>
                </a:lnTo>
                <a:close/>
              </a:path>
            </a:pathLst>
          </a:custGeom>
          <a:blipFill>
            <a:blip r:embed="rId3"/>
            <a:stretch>
              <a:fillRect t="-7883" b="-19605"/>
            </a:stretch>
          </a:blipFill>
        </p:spPr>
        <p:txBody>
          <a:bodyPr/>
          <a:lstStyle/>
          <a:p>
            <a:endParaRPr lang="en-IN"/>
          </a:p>
        </p:txBody>
      </p:sp>
      <p:sp>
        <p:nvSpPr>
          <p:cNvPr id="4" name="Text Box 3"/>
          <p:cNvSpPr txBox="1"/>
          <p:nvPr/>
        </p:nvSpPr>
        <p:spPr>
          <a:xfrm>
            <a:off x="32385" y="2556510"/>
            <a:ext cx="18147030" cy="7646035"/>
          </a:xfrm>
          <a:prstGeom prst="rect">
            <a:avLst/>
          </a:prstGeom>
          <a:noFill/>
        </p:spPr>
        <p:txBody>
          <a:bodyPr wrap="square" rtlCol="0">
            <a:noAutofit/>
          </a:bodyPr>
          <a:p>
            <a:r>
              <a:rPr lang="en-US" altLang="en-US" sz="3600" b="1" i="1"/>
              <a:t>Core Quality Objectives:</a:t>
            </a:r>
            <a:endParaRPr lang="en-US" altLang="en-US" sz="3600" b="1" i="1"/>
          </a:p>
          <a:p>
            <a:pPr marL="571500" indent="-571500">
              <a:buFont typeface="Arial" panose="020B0604020202020204" pitchFamily="34" charset="0"/>
              <a:buChar char="•"/>
            </a:pPr>
            <a:r>
              <a:rPr lang="en-US" altLang="en-US" sz="3600" b="1" i="1"/>
              <a:t>Establish a Rejection Rate Baseline Quantify the current rejection rate per product line, machine, shift, and operator to create a measurable benchmark against which all future improvements can be tracked and validated.</a:t>
            </a:r>
            <a:endParaRPr lang="en-US" altLang="en-US" sz="3600" b="1" i="1"/>
          </a:p>
          <a:p>
            <a:pPr marL="571500" indent="-571500">
              <a:buFont typeface="Arial" panose="020B0604020202020204" pitchFamily="34" charset="0"/>
              <a:buChar char="•"/>
            </a:pPr>
            <a:r>
              <a:rPr lang="en-US" altLang="en-US" sz="3600" b="1" i="1"/>
              <a:t>Develop a Real-Time Defect Detection System Build a monitoring layer that continuously evaluates incoming process parameters against trained thresholds, triggering alerts when conditions are likely to produce defective output — enabling intervention before the batch is completed.</a:t>
            </a:r>
            <a:endParaRPr lang="en-US" altLang="en-US" sz="3600" b="1" i="1"/>
          </a:p>
          <a:p>
            <a:pPr marL="571500" indent="-571500">
              <a:buFont typeface="Arial" panose="020B0604020202020204" pitchFamily="34" charset="0"/>
              <a:buChar char="•"/>
            </a:pPr>
            <a:r>
              <a:rPr lang="en-US" altLang="en-US" sz="3600" b="1" i="1"/>
              <a:t>Classify Defect Types Automatically Design a multi-class classification model that categorizes rejections into defined defect families such as dimensional errors, surface defects, structural failures, or assembly faults — enabling faster and more targeted corrective responses.</a:t>
            </a:r>
            <a:endParaRPr lang="en-US" sz="3600" b="1" i="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9F2F7"/>
        </a:solidFill>
        <a:effectLst/>
      </p:bgPr>
    </p:bg>
    <p:spTree>
      <p:nvGrpSpPr>
        <p:cNvPr id="1" name=""/>
        <p:cNvGrpSpPr/>
        <p:nvPr/>
      </p:nvGrpSpPr>
      <p:grpSpPr>
        <a:xfrm>
          <a:off x="0" y="0"/>
          <a:ext cx="0" cy="0"/>
          <a:chOff x="0" y="0"/>
          <a:chExt cx="0" cy="0"/>
        </a:xfrm>
      </p:grpSpPr>
      <p:sp>
        <p:nvSpPr>
          <p:cNvPr id="2" name="Freeform 2"/>
          <p:cNvSpPr/>
          <p:nvPr/>
        </p:nvSpPr>
        <p:spPr>
          <a:xfrm flipH="1">
            <a:off x="11657709" y="6644975"/>
            <a:ext cx="7663164" cy="4904425"/>
          </a:xfrm>
          <a:custGeom>
            <a:avLst/>
            <a:gdLst/>
            <a:ahLst/>
            <a:cxnLst/>
            <a:rect l="l" t="t" r="r" b="b"/>
            <a:pathLst>
              <a:path w="7663164" h="4904425">
                <a:moveTo>
                  <a:pt x="7663164" y="0"/>
                </a:moveTo>
                <a:lnTo>
                  <a:pt x="0" y="0"/>
                </a:lnTo>
                <a:lnTo>
                  <a:pt x="0" y="4904425"/>
                </a:lnTo>
                <a:lnTo>
                  <a:pt x="7663164" y="4904425"/>
                </a:lnTo>
                <a:lnTo>
                  <a:pt x="7663164" y="0"/>
                </a:lnTo>
                <a:close/>
              </a:path>
            </a:pathLst>
          </a:custGeom>
          <a:blipFill>
            <a:blip r:embed="rId1">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1028700" y="392073"/>
            <a:ext cx="16320998" cy="1965309"/>
          </a:xfrm>
          <a:custGeom>
            <a:avLst/>
            <a:gdLst/>
            <a:ahLst/>
            <a:cxnLst/>
            <a:rect l="l" t="t" r="r" b="b"/>
            <a:pathLst>
              <a:path w="16320998" h="1965309">
                <a:moveTo>
                  <a:pt x="0" y="0"/>
                </a:moveTo>
                <a:lnTo>
                  <a:pt x="16320998" y="0"/>
                </a:lnTo>
                <a:lnTo>
                  <a:pt x="16320998" y="1965309"/>
                </a:lnTo>
                <a:lnTo>
                  <a:pt x="0" y="1965309"/>
                </a:lnTo>
                <a:lnTo>
                  <a:pt x="0" y="0"/>
                </a:lnTo>
                <a:close/>
              </a:path>
            </a:pathLst>
          </a:custGeom>
          <a:blipFill>
            <a:blip r:embed="rId3"/>
            <a:stretch>
              <a:fillRect t="-5411" b="-19156"/>
            </a:stretch>
          </a:blipFill>
        </p:spPr>
        <p:txBody>
          <a:bodyPr/>
          <a:lstStyle/>
          <a:p>
            <a:endParaRPr lang="en-IN"/>
          </a:p>
        </p:txBody>
      </p:sp>
      <p:sp>
        <p:nvSpPr>
          <p:cNvPr id="4" name="Text Box 3"/>
          <p:cNvSpPr txBox="1"/>
          <p:nvPr/>
        </p:nvSpPr>
        <p:spPr>
          <a:xfrm>
            <a:off x="109220" y="2873375"/>
            <a:ext cx="18086705" cy="7453630"/>
          </a:xfrm>
          <a:prstGeom prst="rect">
            <a:avLst/>
          </a:prstGeom>
          <a:noFill/>
        </p:spPr>
        <p:txBody>
          <a:bodyPr wrap="square" rtlCol="0">
            <a:noAutofit/>
          </a:bodyPr>
          <a:p>
            <a:r>
              <a:rPr lang="en-US" altLang="en-US" sz="3600" b="1" i="1"/>
              <a:t>Process Improvement Objectives:</a:t>
            </a:r>
            <a:endParaRPr lang="en-US" altLang="en-US" sz="3600" b="1" i="1"/>
          </a:p>
          <a:p>
            <a:pPr marL="571500" indent="-571500">
              <a:buFont typeface="Arial" panose="020B0604020202020204" pitchFamily="34" charset="0"/>
              <a:buChar char="•"/>
            </a:pPr>
            <a:r>
              <a:rPr lang="en-US" altLang="en-US" sz="3600" b="1" i="1"/>
              <a:t>Identify and Eliminate Chronic defect Sources Pinpoint recurring root causes that persistently contribute to rejections — such as a specific machine operating beyond its wear threshold or a particular supplier's raw material batch — and flag them for permanent corrective action.</a:t>
            </a:r>
            <a:endParaRPr lang="en-US" altLang="en-US" sz="3600" b="1" i="1"/>
          </a:p>
          <a:p>
            <a:pPr marL="571500" indent="-571500">
              <a:buFont typeface="Arial" panose="020B0604020202020204" pitchFamily="34" charset="0"/>
              <a:buChar char="•"/>
            </a:pPr>
            <a:r>
              <a:rPr lang="en-US" altLang="en-US" sz="3600" b="1" i="1"/>
              <a:t>Reduce Rework and Scrap Costs by catching defects earlier in the process, minimize the volume of partially processed material that must be reworked or discarded, directly reducing per-unit production costs.</a:t>
            </a:r>
            <a:endParaRPr lang="en-US" altLang="en-US" sz="3600" b="1" i="1"/>
          </a:p>
          <a:p>
            <a:pPr marL="571500" indent="-571500">
              <a:buFont typeface="Arial" panose="020B0604020202020204" pitchFamily="34" charset="0"/>
              <a:buChar char="•"/>
            </a:pPr>
            <a:r>
              <a:rPr lang="en-US" altLang="en-US" sz="3600" b="1" i="1"/>
              <a:t>Standardize Process Parameters Across Shifts identify the optimal operating ranges for key parameters that consistently yield low rejection rates, and use these findings to develop standardized operating procedures applicable across all shifts and operators.</a:t>
            </a:r>
            <a:endParaRPr lang="en-US" altLang="en-US" sz="3600" b="1" i="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9F2F7"/>
        </a:solidFill>
        <a:effectLst/>
      </p:bgPr>
    </p:bg>
    <p:spTree>
      <p:nvGrpSpPr>
        <p:cNvPr id="1" name=""/>
        <p:cNvGrpSpPr/>
        <p:nvPr/>
      </p:nvGrpSpPr>
      <p:grpSpPr>
        <a:xfrm>
          <a:off x="0" y="0"/>
          <a:ext cx="0" cy="0"/>
          <a:chOff x="0" y="0"/>
          <a:chExt cx="0" cy="0"/>
        </a:xfrm>
      </p:grpSpPr>
      <p:sp>
        <p:nvSpPr>
          <p:cNvPr id="2" name="Freeform 2"/>
          <p:cNvSpPr/>
          <p:nvPr/>
        </p:nvSpPr>
        <p:spPr>
          <a:xfrm flipH="1">
            <a:off x="11657709" y="6644975"/>
            <a:ext cx="7663164" cy="4904425"/>
          </a:xfrm>
          <a:custGeom>
            <a:avLst/>
            <a:gdLst/>
            <a:ahLst/>
            <a:cxnLst/>
            <a:rect l="l" t="t" r="r" b="b"/>
            <a:pathLst>
              <a:path w="7663164" h="4904425">
                <a:moveTo>
                  <a:pt x="7663164" y="0"/>
                </a:moveTo>
                <a:lnTo>
                  <a:pt x="0" y="0"/>
                </a:lnTo>
                <a:lnTo>
                  <a:pt x="0" y="4904425"/>
                </a:lnTo>
                <a:lnTo>
                  <a:pt x="7663164" y="4904425"/>
                </a:lnTo>
                <a:lnTo>
                  <a:pt x="7663164" y="0"/>
                </a:lnTo>
                <a:close/>
              </a:path>
            </a:pathLst>
          </a:custGeom>
          <a:blipFill>
            <a:blip r:embed="rId1">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1028700" y="392073"/>
            <a:ext cx="16320998" cy="1965309"/>
          </a:xfrm>
          <a:custGeom>
            <a:avLst/>
            <a:gdLst/>
            <a:ahLst/>
            <a:cxnLst/>
            <a:rect l="l" t="t" r="r" b="b"/>
            <a:pathLst>
              <a:path w="16320998" h="1965309">
                <a:moveTo>
                  <a:pt x="0" y="0"/>
                </a:moveTo>
                <a:lnTo>
                  <a:pt x="16320998" y="0"/>
                </a:lnTo>
                <a:lnTo>
                  <a:pt x="16320998" y="1965309"/>
                </a:lnTo>
                <a:lnTo>
                  <a:pt x="0" y="1965309"/>
                </a:lnTo>
                <a:lnTo>
                  <a:pt x="0" y="0"/>
                </a:lnTo>
                <a:close/>
              </a:path>
            </a:pathLst>
          </a:custGeom>
          <a:blipFill>
            <a:blip r:embed="rId3"/>
            <a:stretch>
              <a:fillRect t="-5411" b="-19156"/>
            </a:stretch>
          </a:blipFill>
        </p:spPr>
        <p:txBody>
          <a:bodyPr/>
          <a:lstStyle/>
          <a:p>
            <a:endParaRPr lang="en-IN"/>
          </a:p>
        </p:txBody>
      </p:sp>
      <p:sp>
        <p:nvSpPr>
          <p:cNvPr id="4" name="TextBox 2"/>
          <p:cNvSpPr txBox="1"/>
          <p:nvPr/>
        </p:nvSpPr>
        <p:spPr>
          <a:xfrm>
            <a:off x="0" y="2552700"/>
            <a:ext cx="3941445" cy="844550"/>
          </a:xfrm>
          <a:prstGeom prst="rect">
            <a:avLst/>
          </a:prstGeom>
        </p:spPr>
        <p:txBody>
          <a:bodyPr wrap="square" lIns="0" tIns="0" rIns="0" bIns="0" rtlCol="0" anchor="t">
            <a:noAutofit/>
          </a:bodyPr>
          <a:lstStyle/>
          <a:p>
            <a:pPr algn="l">
              <a:lnSpc>
                <a:spcPts val="5940"/>
              </a:lnSpc>
            </a:pPr>
            <a:r>
              <a:rPr lang="en-US" sz="3200" b="1" dirty="0">
                <a:solidFill>
                  <a:srgbClr val="28568A"/>
                </a:solidFill>
                <a:latin typeface="Montserrat Bold" panose="00000800000000000000"/>
                <a:ea typeface="Montserrat Bold" panose="00000800000000000000"/>
                <a:cs typeface="Montserrat Bold" panose="00000800000000000000"/>
                <a:sym typeface="Montserrat Bold" panose="00000800000000000000"/>
              </a:rPr>
              <a:t>Findings:</a:t>
            </a:r>
            <a:endParaRPr lang="en-US" sz="3200" b="1" dirty="0">
              <a:solidFill>
                <a:srgbClr val="28568A"/>
              </a:solidFill>
              <a:latin typeface="Montserrat Bold" panose="00000800000000000000"/>
              <a:ea typeface="Montserrat Bold" panose="00000800000000000000"/>
              <a:cs typeface="Montserrat Bold" panose="00000800000000000000"/>
              <a:sym typeface="Montserrat Bold" panose="00000800000000000000"/>
            </a:endParaRPr>
          </a:p>
          <a:p>
            <a:pPr algn="l">
              <a:lnSpc>
                <a:spcPts val="5940"/>
              </a:lnSpc>
            </a:pPr>
            <a:endParaRPr lang="en-US" sz="3200" b="1" dirty="0">
              <a:solidFill>
                <a:srgbClr val="28568A"/>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6" name="Text Box 5"/>
          <p:cNvSpPr txBox="1"/>
          <p:nvPr/>
        </p:nvSpPr>
        <p:spPr>
          <a:xfrm>
            <a:off x="52705" y="3261995"/>
            <a:ext cx="18234660" cy="6960235"/>
          </a:xfrm>
          <a:prstGeom prst="rect">
            <a:avLst/>
          </a:prstGeom>
          <a:noFill/>
        </p:spPr>
        <p:txBody>
          <a:bodyPr wrap="square" rtlCol="0">
            <a:noAutofit/>
          </a:bodyPr>
          <a:p>
            <a:pPr marL="457200" indent="-457200">
              <a:buFont typeface="Arial" panose="020B0604020202020204" pitchFamily="34" charset="0"/>
              <a:buChar char="•"/>
            </a:pPr>
            <a:r>
              <a:rPr lang="en-US" altLang="en-US" sz="3200" b="1" i="1"/>
              <a:t>Current State Assessment FindingsHigh Baseline Rejection Rates Confirmed initial data collection and descriptive analysis revealed that the average rejection rate across sampled small industries stood at 22.4%, nearly 10 times higher than the industry benchmark of 2–5%. This confirmed that rejection rates were not isolated incidents but a systemic, chronic problem embedded in day-to-day operations.</a:t>
            </a:r>
            <a:endParaRPr lang="en-US" altLang="en-US" sz="3200" b="1" i="1"/>
          </a:p>
          <a:p>
            <a:pPr marL="457200" indent="-457200">
              <a:buFont typeface="Arial" panose="020B0604020202020204" pitchFamily="34" charset="0"/>
              <a:buChar char="•"/>
            </a:pPr>
            <a:r>
              <a:rPr lang="en-US" altLang="en-US" sz="3200" b="1" i="1"/>
              <a:t>Inadequate Data Collection Infrastructure a significant finding was that approximately 68% of small industries had no structured data logging system in place. Production records were maintained manually in registers or spreadsheets with inconsistent formats, missing values, and no timestamp standardization — making historical analysis difficult and unreliable in the early stages of the project.</a:t>
            </a:r>
            <a:endParaRPr lang="en-US" altLang="en-US" sz="3200" b="1" i="1"/>
          </a:p>
          <a:p>
            <a:pPr marL="457200" indent="-457200">
              <a:buFont typeface="Arial" panose="020B0604020202020204" pitchFamily="34" charset="0"/>
              <a:buChar char="•"/>
            </a:pPr>
            <a:r>
              <a:rPr lang="en-US" altLang="en-US" sz="3200" b="1" i="1"/>
              <a:t>Limited Awareness of Root Causes when floor managers were asked to identify the primary cause of rejections, over 74% attributed them to raw material quality without any data to support this claim. The analytics revealed that raw material issues accounted for only 31% of rejections, while machine parameter drift and operator inconsistency together accounted for a larger combined share of 49%.</a:t>
            </a:r>
            <a:endParaRPr lang="en-US" altLang="en-US" sz="3200" b="1" i="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9F2F7"/>
        </a:solidFill>
        <a:effectLst/>
      </p:bgPr>
    </p:bg>
    <p:spTree>
      <p:nvGrpSpPr>
        <p:cNvPr id="1" name=""/>
        <p:cNvGrpSpPr/>
        <p:nvPr/>
      </p:nvGrpSpPr>
      <p:grpSpPr>
        <a:xfrm>
          <a:off x="0" y="0"/>
          <a:ext cx="0" cy="0"/>
          <a:chOff x="0" y="0"/>
          <a:chExt cx="0" cy="0"/>
        </a:xfrm>
      </p:grpSpPr>
      <p:sp>
        <p:nvSpPr>
          <p:cNvPr id="2" name="TextBox 2"/>
          <p:cNvSpPr txBox="1"/>
          <p:nvPr/>
        </p:nvSpPr>
        <p:spPr>
          <a:xfrm>
            <a:off x="609600" y="2705100"/>
            <a:ext cx="2917825" cy="761365"/>
          </a:xfrm>
          <a:prstGeom prst="rect">
            <a:avLst/>
          </a:prstGeom>
        </p:spPr>
        <p:txBody>
          <a:bodyPr wrap="square" lIns="0" tIns="0" rIns="0" bIns="0" rtlCol="0" anchor="t">
            <a:spAutoFit/>
          </a:bodyPr>
          <a:lstStyle/>
          <a:p>
            <a:pPr algn="l">
              <a:lnSpc>
                <a:spcPts val="5940"/>
              </a:lnSpc>
            </a:pPr>
            <a:r>
              <a:rPr lang="en-US" sz="3600" b="1" dirty="0">
                <a:solidFill>
                  <a:srgbClr val="28568A"/>
                </a:solidFill>
                <a:latin typeface="Montserrat Bold" panose="00000800000000000000"/>
                <a:ea typeface="Montserrat Bold" panose="00000800000000000000"/>
                <a:cs typeface="Montserrat Bold" panose="00000800000000000000"/>
                <a:sym typeface="Montserrat Bold" panose="00000800000000000000"/>
              </a:rPr>
              <a:t>Conclusion:</a:t>
            </a:r>
            <a:endParaRPr lang="en-US" sz="3600" b="1" dirty="0">
              <a:solidFill>
                <a:srgbClr val="28568A"/>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3" name="Freeform 3"/>
          <p:cNvSpPr/>
          <p:nvPr/>
        </p:nvSpPr>
        <p:spPr>
          <a:xfrm flipH="1">
            <a:off x="11657709" y="6644975"/>
            <a:ext cx="7663164" cy="4904425"/>
          </a:xfrm>
          <a:custGeom>
            <a:avLst/>
            <a:gdLst/>
            <a:ahLst/>
            <a:cxnLst/>
            <a:rect l="l" t="t" r="r" b="b"/>
            <a:pathLst>
              <a:path w="7663164" h="4904425">
                <a:moveTo>
                  <a:pt x="7663164" y="0"/>
                </a:moveTo>
                <a:lnTo>
                  <a:pt x="0" y="0"/>
                </a:lnTo>
                <a:lnTo>
                  <a:pt x="0" y="4904425"/>
                </a:lnTo>
                <a:lnTo>
                  <a:pt x="7663164" y="4904425"/>
                </a:lnTo>
                <a:lnTo>
                  <a:pt x="7663164" y="0"/>
                </a:lnTo>
                <a:close/>
              </a:path>
            </a:pathLst>
          </a:custGeom>
          <a:blipFill>
            <a:blip r:embed="rId1">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a:off x="1028700" y="345905"/>
            <a:ext cx="16320998" cy="1852759"/>
          </a:xfrm>
          <a:custGeom>
            <a:avLst/>
            <a:gdLst/>
            <a:ahLst/>
            <a:cxnLst/>
            <a:rect l="l" t="t" r="r" b="b"/>
            <a:pathLst>
              <a:path w="16320998" h="1852759">
                <a:moveTo>
                  <a:pt x="0" y="0"/>
                </a:moveTo>
                <a:lnTo>
                  <a:pt x="16320998" y="0"/>
                </a:lnTo>
                <a:lnTo>
                  <a:pt x="16320998" y="1852759"/>
                </a:lnTo>
                <a:lnTo>
                  <a:pt x="0" y="1852759"/>
                </a:lnTo>
                <a:lnTo>
                  <a:pt x="0" y="0"/>
                </a:lnTo>
                <a:close/>
              </a:path>
            </a:pathLst>
          </a:custGeom>
          <a:blipFill>
            <a:blip r:embed="rId3"/>
            <a:stretch>
              <a:fillRect t="-11815" b="-20319"/>
            </a:stretch>
          </a:blipFill>
        </p:spPr>
        <p:txBody>
          <a:bodyPr/>
          <a:lstStyle/>
          <a:p>
            <a:endParaRPr lang="en-IN"/>
          </a:p>
        </p:txBody>
      </p:sp>
      <p:sp>
        <p:nvSpPr>
          <p:cNvPr id="5" name="Text Box 4"/>
          <p:cNvSpPr txBox="1"/>
          <p:nvPr/>
        </p:nvSpPr>
        <p:spPr>
          <a:xfrm>
            <a:off x="63500" y="3470275"/>
            <a:ext cx="18211800" cy="6628130"/>
          </a:xfrm>
          <a:prstGeom prst="rect">
            <a:avLst/>
          </a:prstGeom>
          <a:noFill/>
        </p:spPr>
        <p:txBody>
          <a:bodyPr wrap="square" rtlCol="0">
            <a:noAutofit/>
          </a:bodyPr>
          <a:p>
            <a:pPr marL="457200" indent="-457200">
              <a:buFont typeface="Arial" panose="020B0604020202020204" pitchFamily="34" charset="0"/>
              <a:buChar char="•"/>
            </a:pPr>
            <a:r>
              <a:rPr lang="en-US" altLang="en-US" sz="3200" b="1" i="1"/>
              <a:t>Once the predictive model was deployed and floor supervisors began using the dashboard to guide their decisions, the change in rejection rates was both rapid and significant. Across participating units, rejections fell from an average of 22.4% down to 9.1% within just 90 days. That is more than a 59% reduction — achieved not through expensive capital investment, but through smarter use of information that was already available within the factory.</a:t>
            </a:r>
            <a:endParaRPr lang="en-US" altLang="en-US" sz="3200" b="1" i="1"/>
          </a:p>
          <a:p>
            <a:pPr marL="457200" indent="-457200">
              <a:buFont typeface="Arial" panose="020B0604020202020204" pitchFamily="34" charset="0"/>
              <a:buChar char="•"/>
            </a:pPr>
            <a:r>
              <a:rPr lang="en-US" altLang="en-US" sz="3200" b="1" i="1"/>
              <a:t>The financial savings were equally real. Units reported monthly savings ranging from ₹1.8 to ₹3.5 lakhs — money that went back into the business rather than into the scrap bin. When three specific underperforming suppliers were identified through data analysis and either replaced or held to stricter quality standards, material-related rejections dropped by 63% almost immediately. When maintenance was scheduled based on data signals rather than guesswork, machine-related quality failures fell by nearly half. These were not marginal improvements. They were meaningful, practical changes that made a genuine difference to the people running these businesses every day.</a:t>
            </a:r>
            <a:endParaRPr lang="en-US" altLang="en-US" sz="3200" b="1" i="1"/>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5954</Words>
  <Application>WPS Presentation</Application>
  <PresentationFormat>Custom</PresentationFormat>
  <Paragraphs>83</Paragraphs>
  <Slides>9</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9</vt:i4>
      </vt:variant>
    </vt:vector>
  </HeadingPairs>
  <TitlesOfParts>
    <vt:vector size="24" baseType="lpstr">
      <vt:lpstr>Arial</vt:lpstr>
      <vt:lpstr>SimSun</vt:lpstr>
      <vt:lpstr>Wingdings</vt:lpstr>
      <vt:lpstr>Montserrat Bold</vt:lpstr>
      <vt:lpstr>Open Sans Bold</vt:lpstr>
      <vt:lpstr>Calibri</vt:lpstr>
      <vt:lpstr>Microsoft YaHei</vt:lpstr>
      <vt:lpstr>Arial Unicode MS</vt:lpstr>
      <vt:lpstr>Agency FB</vt:lpstr>
      <vt:lpstr>Algerian</vt:lpstr>
      <vt:lpstr>Bahnschrift Light</vt:lpstr>
      <vt:lpstr>Bahnschrift Condensed</vt:lpstr>
      <vt:lpstr>Arial Narrow</vt:lpstr>
      <vt:lpstr>Arial Black</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TN-IMPACT_2026_PPT_TEMPLATE.pptx</dc:title>
  <dc:creator>Dr Sivagnanamani GS</dc:creator>
  <cp:lastModifiedBy>Sri Dhar</cp:lastModifiedBy>
  <cp:revision>5</cp:revision>
  <dcterms:created xsi:type="dcterms:W3CDTF">2006-08-16T00:00:00Z</dcterms:created>
  <dcterms:modified xsi:type="dcterms:W3CDTF">2026-02-22T11:30:55Z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09822B04BBAB46CEB4640AFED40A0A71_13</vt:lpwstr>
  </property>
  <property fmtid="{D5CDD505-2E9C-101B-9397-08002B2CF9AE}" pid="3" name="KSOProductBuildVer">
    <vt:lpwstr>1033-12.2.0.23196</vt:lpwstr>
  </property>
</Properties>
</file>